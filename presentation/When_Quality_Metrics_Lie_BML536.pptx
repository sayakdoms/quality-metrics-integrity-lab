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1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47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04695" y="1714500"/>
            <a:ext cx="1428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kern="0" spc="3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BML-536 Quality Management</a:t>
            </a:r>
            <a:endParaRPr lang="en-US" b="1" dirty="0"/>
          </a:p>
        </p:txBody>
      </p:sp>
      <p:sp>
        <p:nvSpPr>
          <p:cNvPr id="3" name="Text 1"/>
          <p:cNvSpPr txBox="1"/>
          <p:nvPr/>
        </p:nvSpPr>
        <p:spPr>
          <a:xfrm>
            <a:off x="1904695" y="2476195"/>
            <a:ext cx="15240305" cy="438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900" kern="0" spc="-258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When quality</a:t>
            </a:r>
            <a:endParaRPr lang="en-US" sz="129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2900" kern="0" spc="-258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metrics </a:t>
            </a:r>
            <a:r>
              <a:rPr lang="en-US" sz="12900" i="1" kern="0" spc="-258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lie</a:t>
            </a:r>
            <a:r>
              <a:rPr lang="en-US" sz="12900" kern="0" spc="-258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</a:t>
            </a:r>
            <a:endParaRPr lang="en-US" sz="12900" dirty="0"/>
          </a:p>
        </p:txBody>
      </p:sp>
      <p:sp>
        <p:nvSpPr>
          <p:cNvPr id="4" name="Text 2"/>
          <p:cNvSpPr txBox="1"/>
          <p:nvPr/>
        </p:nvSpPr>
        <p:spPr>
          <a:xfrm>
            <a:off x="1943100" y="7239305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Goodhart's Law, metric gaming, and the hidden failure of KPI-driven quality management.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943100" y="9144000"/>
            <a:ext cx="1428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0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Sayak Pranab Ghosh · </a:t>
            </a:r>
            <a:r>
              <a:rPr lang="en-US" sz="2000" b="1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MBA | Term 5 · IIT Roorkee | 25810071</a:t>
            </a:r>
            <a:endParaRPr lang="en-US" sz="2000" b="1" dirty="0"/>
          </a:p>
        </p:txBody>
      </p:sp>
      <p:pic>
        <p:nvPicPr>
          <p:cNvPr id="1026" name="Picture 2" descr="IIT Roorkee - Indian Institute of Technology | IIRF Ranking">
            <a:extLst>
              <a:ext uri="{FF2B5EF4-FFF2-40B4-BE49-F238E27FC236}">
                <a16:creationId xmlns:a16="http://schemas.microsoft.com/office/drawing/2014/main" id="{9868D197-860B-5782-9EDF-B9F4F6925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3790" y="2313530"/>
            <a:ext cx="4561472" cy="4367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04695" y="1904695"/>
            <a:ext cx="14287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To begin with a question —</a:t>
            </a:r>
            <a:endParaRPr lang="en-US" sz="1950" dirty="0"/>
          </a:p>
        </p:txBody>
      </p:sp>
      <p:sp>
        <p:nvSpPr>
          <p:cNvPr id="3" name="Text 1"/>
          <p:cNvSpPr txBox="1"/>
          <p:nvPr/>
        </p:nvSpPr>
        <p:spPr>
          <a:xfrm>
            <a:off x="5101389" y="3238805"/>
            <a:ext cx="11430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6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If a factory reports</a:t>
            </a:r>
            <a:endParaRPr lang="en-US" sz="66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66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fewer defects</a:t>
            </a:r>
            <a:r>
              <a:rPr lang="en-US" sz="66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every month,</a:t>
            </a:r>
            <a:endParaRPr lang="en-US" sz="66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66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does that necessarily mean</a:t>
            </a:r>
            <a:endParaRPr lang="en-US" sz="66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66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its quality is improving?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1904695" y="8953805"/>
            <a:ext cx="11430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Hold that thought — we'll return to it.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4716" y="1284156"/>
            <a:ext cx="13691477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400" kern="0" spc="-168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You can't manage</a:t>
            </a:r>
            <a:endParaRPr lang="en-US" sz="8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8400" kern="0" spc="-168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you can't see.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1130052" y="4991951"/>
            <a:ext cx="13335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i="1" dirty="0">
                <a:solidFill>
                  <a:srgbClr val="5B564E"/>
                </a:solidFill>
                <a:latin typeface="Lucida Bright" panose="02040602050505020304" pitchFamily="18" charset="0"/>
                <a:ea typeface="Manrope" pitchFamily="34" charset="-122"/>
                <a:cs typeface="Manrope" pitchFamily="34" charset="-120"/>
              </a:rPr>
              <a:t>Quality management, everywhere, starts with measurement</a:t>
            </a:r>
            <a:r>
              <a:rPr lang="en-US" sz="19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950" dirty="0"/>
          </a:p>
        </p:txBody>
      </p:sp>
      <p:pic>
        <p:nvPicPr>
          <p:cNvPr id="4" name="Image 0" descr="gen-dedup-d3218ad09707ba62fb2c353a5018f987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1323475" y="7160634"/>
            <a:ext cx="15058916" cy="19783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72389" y="7810805"/>
            <a:ext cx="289961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Process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1672389" y="8438998"/>
            <a:ext cx="423280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work that actually happens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7810805"/>
            <a:ext cx="2667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Measure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8438998"/>
            <a:ext cx="4000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number we choose to record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4097305" y="7810805"/>
            <a:ext cx="2667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Decide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14097305" y="8438998"/>
            <a:ext cx="4000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 then act on that number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e585c2a1a278167eed2256a30cf134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8572500" y="2095805"/>
            <a:ext cx="9144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04695" y="2095805"/>
            <a:ext cx="6096305" cy="1999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kern="0" spc="-9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most firms watch.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1943100" y="4095597"/>
            <a:ext cx="6096305" cy="2220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None of these numbers is wrong by itself. Each one, though, can be softened, reclassified, or nudged once it becomes a target.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123883" y="2598821"/>
            <a:ext cx="8022032" cy="635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83"/>
              </a:lnSpc>
              <a:buNone/>
            </a:pPr>
            <a:r>
              <a:rPr lang="en-US" sz="31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A. </a:t>
            </a:r>
            <a:r>
              <a:rPr lang="en-US" sz="3150" b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Defect rate</a:t>
            </a:r>
            <a:endParaRPr lang="en-US" sz="3150" b="1" dirty="0"/>
          </a:p>
          <a:p>
            <a:pPr marL="0" indent="0" algn="l">
              <a:lnSpc>
                <a:spcPts val="4883"/>
              </a:lnSpc>
              <a:buNone/>
            </a:pPr>
            <a:r>
              <a:rPr lang="en-US" sz="31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B. </a:t>
            </a:r>
            <a:r>
              <a:rPr lang="en-US" sz="3150" b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Reject rate</a:t>
            </a:r>
            <a:endParaRPr lang="en-US" sz="3150" b="1" dirty="0"/>
          </a:p>
          <a:p>
            <a:pPr marL="0" indent="0" algn="l">
              <a:lnSpc>
                <a:spcPts val="4883"/>
              </a:lnSpc>
              <a:buNone/>
            </a:pPr>
            <a:r>
              <a:rPr lang="en-US" sz="31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C. </a:t>
            </a:r>
            <a:r>
              <a:rPr lang="en-US" sz="3150" b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Customer complaints</a:t>
            </a:r>
            <a:endParaRPr lang="en-US" sz="3150" b="1" dirty="0"/>
          </a:p>
          <a:p>
            <a:pPr marL="0" indent="0" algn="l">
              <a:lnSpc>
                <a:spcPts val="4883"/>
              </a:lnSpc>
              <a:buNone/>
            </a:pPr>
            <a:r>
              <a:rPr lang="en-US" sz="31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D. </a:t>
            </a:r>
            <a:r>
              <a:rPr lang="en-US" sz="3150" b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Returns &amp; warranty claims</a:t>
            </a:r>
            <a:endParaRPr lang="en-US" sz="3150" b="1" dirty="0"/>
          </a:p>
          <a:p>
            <a:pPr marL="0" indent="0" algn="l">
              <a:lnSpc>
                <a:spcPts val="4883"/>
              </a:lnSpc>
              <a:buNone/>
            </a:pPr>
            <a:r>
              <a:rPr lang="en-US" sz="31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E. </a:t>
            </a:r>
            <a:r>
              <a:rPr lang="en-US" sz="3150" b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On-time delivery</a:t>
            </a:r>
            <a:endParaRPr lang="en-US" sz="3150" b="1" dirty="0"/>
          </a:p>
          <a:p>
            <a:pPr marL="0" indent="0" algn="l">
              <a:lnSpc>
                <a:spcPts val="4883"/>
              </a:lnSpc>
              <a:buNone/>
            </a:pPr>
            <a:r>
              <a:rPr lang="en-US" sz="31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F. </a:t>
            </a:r>
            <a:r>
              <a:rPr lang="en-US" sz="3150" b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Audit score</a:t>
            </a:r>
            <a:endParaRPr lang="en-US" sz="3150" b="1" dirty="0"/>
          </a:p>
          <a:p>
            <a:pPr marL="0" indent="0" algn="l">
              <a:lnSpc>
                <a:spcPts val="4883"/>
              </a:lnSpc>
              <a:buNone/>
            </a:pPr>
            <a:r>
              <a:rPr lang="en-US" sz="31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G. </a:t>
            </a:r>
            <a:r>
              <a:rPr lang="en-US" sz="3150" b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Customer satisfaction</a:t>
            </a:r>
            <a:endParaRPr lang="en-US" sz="3150" b="1" dirty="0"/>
          </a:p>
          <a:p>
            <a:pPr marL="0" indent="0" algn="l">
              <a:lnSpc>
                <a:spcPts val="4883"/>
              </a:lnSpc>
              <a:buNone/>
            </a:pPr>
            <a:r>
              <a:rPr lang="en-US" sz="31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H. </a:t>
            </a:r>
            <a:r>
              <a:rPr lang="en-US" sz="3150" b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Scrap &amp; rework</a:t>
            </a:r>
            <a:endParaRPr lang="en-US" sz="315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9a5ca0b439c813483a3a0e9dbb7a09c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072664" y="7066786"/>
            <a:ext cx="8540568" cy="4571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2526" y="1151627"/>
            <a:ext cx="15881686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kern="0" spc="-103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But measurement carries</a:t>
            </a:r>
            <a:r>
              <a:rPr lang="en-US" sz="6900" dirty="0"/>
              <a:t> </a:t>
            </a:r>
            <a:r>
              <a:rPr lang="en-US" sz="6900" kern="0" spc="-103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</a:t>
            </a:r>
            <a:r>
              <a:rPr lang="en-US" sz="6900" i="1" kern="0" spc="-103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hidden</a:t>
            </a:r>
            <a:r>
              <a:rPr lang="en-US" sz="6900" kern="0" spc="-103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problem!</a:t>
            </a:r>
            <a:endParaRPr lang="en-US" sz="6900" dirty="0"/>
          </a:p>
        </p:txBody>
      </p:sp>
      <p:sp>
        <p:nvSpPr>
          <p:cNvPr id="4" name="Text 1"/>
          <p:cNvSpPr txBox="1"/>
          <p:nvPr/>
        </p:nvSpPr>
        <p:spPr>
          <a:xfrm>
            <a:off x="1072664" y="3794044"/>
            <a:ext cx="14001052" cy="2115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15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happens when improving the score</a:t>
            </a:r>
            <a:endParaRPr lang="en-US" sz="31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315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becomes more important than improving the process?</a:t>
            </a:r>
            <a:endParaRPr lang="en-US" sz="3150" dirty="0"/>
          </a:p>
        </p:txBody>
      </p:sp>
      <p:sp>
        <p:nvSpPr>
          <p:cNvPr id="5" name="Text 2"/>
          <p:cNvSpPr txBox="1"/>
          <p:nvPr/>
        </p:nvSpPr>
        <p:spPr>
          <a:xfrm>
            <a:off x="962526" y="8191195"/>
            <a:ext cx="15420779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i="1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Once a measure becomes a target, its relationship to reality begins to bend.</a:t>
            </a:r>
            <a:endParaRPr lang="en-US" sz="1800" b="1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AF9AB2-B109-E3CB-CFA3-65151AA3E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474" y="2606037"/>
            <a:ext cx="7628020" cy="61168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f6bf0c1db2c95cb5838e9424629f11b.png"/>
          <p:cNvPicPr>
            <a:picLocks noChangeAspect="1"/>
          </p:cNvPicPr>
          <p:nvPr/>
        </p:nvPicPr>
        <p:blipFill>
          <a:blip r:embed="rId3"/>
          <a:srcRect t="-2089" b="-2089"/>
          <a:stretch/>
        </p:blipFill>
        <p:spPr>
          <a:xfrm>
            <a:off x="11261558" y="4238700"/>
            <a:ext cx="115118" cy="381030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04695" y="1810512"/>
            <a:ext cx="142875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kern="0" spc="-99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Goodhart's Law, in plain words.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1904695" y="4190695"/>
            <a:ext cx="8572500" cy="3906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measure can describe reality well — until it turns into a high-stakes target. Once careers depend on hitting a number, people start moving the number, not the reality it was meant to track.</a:t>
            </a:r>
            <a:r>
              <a:rPr lang="en-US" sz="1500" b="1" dirty="0">
                <a:solidFill>
                  <a:srgbClr val="0F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¹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12001500" y="4286707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As a measure —</a:t>
            </a:r>
            <a:endParaRPr lang="en-US" sz="1950" dirty="0"/>
          </a:p>
        </p:txBody>
      </p:sp>
      <p:sp>
        <p:nvSpPr>
          <p:cNvPr id="6" name="Text 3"/>
          <p:cNvSpPr txBox="1"/>
          <p:nvPr/>
        </p:nvSpPr>
        <p:spPr>
          <a:xfrm>
            <a:off x="12001500" y="4743907"/>
            <a:ext cx="514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number reflects the process. It helps us learn.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2001500" y="6286500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As a target —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12001500" y="6743700"/>
            <a:ext cx="51435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number becomes the goal. It stops being a mirror of the process.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904695" y="9810598"/>
            <a:ext cx="1543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¹ Paraphrase; see references.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1899cdf82a1e8853b7f628f07b6886.png"/>
          <p:cNvPicPr>
            <a:picLocks noChangeAspect="1"/>
          </p:cNvPicPr>
          <p:nvPr/>
        </p:nvPicPr>
        <p:blipFill>
          <a:blip r:embed="rId3"/>
          <a:srcRect t="-397" b="-397"/>
          <a:stretch/>
        </p:blipFill>
        <p:spPr>
          <a:xfrm>
            <a:off x="1904695" y="4934102"/>
            <a:ext cx="6096305" cy="19202"/>
          </a:xfrm>
          <a:prstGeom prst="rect">
            <a:avLst/>
          </a:prstGeom>
        </p:spPr>
      </p:pic>
      <p:pic>
        <p:nvPicPr>
          <p:cNvPr id="3" name="Image 1" descr="gen-dedup-b38e1ee91eee27136b136cecdb50fb29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0287000" y="4934102"/>
            <a:ext cx="6858000" cy="1920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904695" y="2095805"/>
            <a:ext cx="154305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300" kern="0" spc="-94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Same number. Two different stories.</a:t>
            </a:r>
            <a:endParaRPr lang="en-US" sz="6300" dirty="0"/>
          </a:p>
        </p:txBody>
      </p:sp>
      <p:sp>
        <p:nvSpPr>
          <p:cNvPr id="5" name="Text 1"/>
          <p:cNvSpPr txBox="1"/>
          <p:nvPr/>
        </p:nvSpPr>
        <p:spPr>
          <a:xfrm>
            <a:off x="1943100" y="3524098"/>
            <a:ext cx="1428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the dashboard they look identical. Underneath, they aren't.</a:t>
            </a:r>
            <a:endParaRPr lang="en-US" sz="1650" dirty="0"/>
          </a:p>
        </p:txBody>
      </p:sp>
      <p:sp>
        <p:nvSpPr>
          <p:cNvPr id="6" name="Text 2"/>
          <p:cNvSpPr txBox="1"/>
          <p:nvPr/>
        </p:nvSpPr>
        <p:spPr>
          <a:xfrm>
            <a:off x="1904695" y="4476902"/>
            <a:ext cx="6096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Healthy —</a:t>
            </a:r>
            <a:endParaRPr lang="en-US" sz="2100" dirty="0"/>
          </a:p>
        </p:txBody>
      </p:sp>
      <p:sp>
        <p:nvSpPr>
          <p:cNvPr id="7" name="Text 3"/>
          <p:cNvSpPr txBox="1"/>
          <p:nvPr/>
        </p:nvSpPr>
        <p:spPr>
          <a:xfrm>
            <a:off x="1904695" y="5219395"/>
            <a:ext cx="6096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Process improves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1904695" y="5886907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904695" y="6324905"/>
            <a:ext cx="6096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Real quality improves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1904695" y="6991502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904695" y="7429500"/>
            <a:ext cx="6096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Metric improves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1904695" y="8287207"/>
            <a:ext cx="6096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number is a symptom of real work.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10287000" y="4476902"/>
            <a:ext cx="6858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C3554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Distorted —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10287000" y="5219395"/>
            <a:ext cx="685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Metric </a:t>
            </a:r>
            <a:r>
              <a:rPr lang="en-US" sz="300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must</a:t>
            </a:r>
            <a:r>
              <a:rPr lang="en-US" sz="30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improve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10287000" y="5886907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287000" y="6324905"/>
            <a:ext cx="685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Behaviour shifts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10287000" y="6991502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0287000" y="7429500"/>
            <a:ext cx="77349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C3554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Number improves — reality may not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10287000" y="8287207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number is a performance for the report.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3e672698e2282c04421c0d94d400e80.png"/>
          <p:cNvPicPr>
            <a:picLocks noChangeAspect="1"/>
          </p:cNvPicPr>
          <p:nvPr/>
        </p:nvPicPr>
        <p:blipFill>
          <a:blip r:embed="rId3"/>
          <a:srcRect t="-404" b="-404"/>
          <a:stretch/>
        </p:blipFill>
        <p:spPr>
          <a:xfrm>
            <a:off x="1904695" y="6096305"/>
            <a:ext cx="3619195" cy="19202"/>
          </a:xfrm>
          <a:prstGeom prst="rect">
            <a:avLst/>
          </a:prstGeom>
        </p:spPr>
      </p:pic>
      <p:pic>
        <p:nvPicPr>
          <p:cNvPr id="3" name="Image 1" descr="gen-dedup-e3e672698e2282c04421c0d94d400e80.png"/>
          <p:cNvPicPr>
            <a:picLocks noChangeAspect="1"/>
          </p:cNvPicPr>
          <p:nvPr/>
        </p:nvPicPr>
        <p:blipFill>
          <a:blip r:embed="rId3"/>
          <a:srcRect t="-404" b="-404"/>
          <a:stretch/>
        </p:blipFill>
        <p:spPr>
          <a:xfrm>
            <a:off x="5715000" y="6096305"/>
            <a:ext cx="3619195" cy="19202"/>
          </a:xfrm>
          <a:prstGeom prst="rect">
            <a:avLst/>
          </a:prstGeom>
        </p:spPr>
      </p:pic>
      <p:pic>
        <p:nvPicPr>
          <p:cNvPr id="4" name="Image 2" descr="gen-dedup-e3e672698e2282c04421c0d94d400e80.png"/>
          <p:cNvPicPr>
            <a:picLocks noChangeAspect="1"/>
          </p:cNvPicPr>
          <p:nvPr/>
        </p:nvPicPr>
        <p:blipFill>
          <a:blip r:embed="rId3"/>
          <a:srcRect t="-404" b="-404"/>
          <a:stretch/>
        </p:blipFill>
        <p:spPr>
          <a:xfrm>
            <a:off x="9525305" y="6096305"/>
            <a:ext cx="3619195" cy="19202"/>
          </a:xfrm>
          <a:prstGeom prst="rect">
            <a:avLst/>
          </a:prstGeom>
        </p:spPr>
      </p:pic>
      <p:pic>
        <p:nvPicPr>
          <p:cNvPr id="5" name="Image 3" descr="gen-dedup-e3e672698e2282c04421c0d94d400e80.png"/>
          <p:cNvPicPr>
            <a:picLocks noChangeAspect="1"/>
          </p:cNvPicPr>
          <p:nvPr/>
        </p:nvPicPr>
        <p:blipFill>
          <a:blip r:embed="rId3"/>
          <a:srcRect t="-404" b="-404"/>
          <a:stretch/>
        </p:blipFill>
        <p:spPr>
          <a:xfrm>
            <a:off x="13334695" y="6096305"/>
            <a:ext cx="3619195" cy="19202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904695" y="1428293"/>
            <a:ext cx="15430500" cy="2305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kern="0" spc="-9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Goodhart's Law does not mean</a:t>
            </a:r>
            <a:endParaRPr lang="en-US" sz="6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i="1" kern="0" spc="-90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"don't use targets."</a:t>
            </a:r>
            <a:endParaRPr lang="en-US" sz="6000" dirty="0"/>
          </a:p>
        </p:txBody>
      </p:sp>
      <p:sp>
        <p:nvSpPr>
          <p:cNvPr id="7" name="Text 1"/>
          <p:cNvSpPr txBox="1"/>
          <p:nvPr/>
        </p:nvSpPr>
        <p:spPr>
          <a:xfrm>
            <a:off x="1943100" y="3904489"/>
            <a:ext cx="15430500" cy="858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problem is not measurement. The problem is when one number becomes too powerful.</a:t>
            </a:r>
            <a:endParaRPr lang="en-US" sz="2100" dirty="0"/>
          </a:p>
        </p:txBody>
      </p:sp>
      <p:sp>
        <p:nvSpPr>
          <p:cNvPr id="8" name="Text 2"/>
          <p:cNvSpPr txBox="1"/>
          <p:nvPr/>
        </p:nvSpPr>
        <p:spPr>
          <a:xfrm>
            <a:off x="1943100" y="4913986"/>
            <a:ext cx="15430500" cy="4956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Four conditions make a metric vulnerable —</a:t>
            </a:r>
            <a:endParaRPr lang="en-US" sz="1650" dirty="0"/>
          </a:p>
        </p:txBody>
      </p:sp>
      <p:sp>
        <p:nvSpPr>
          <p:cNvPr id="9" name="Text 3"/>
          <p:cNvSpPr txBox="1"/>
          <p:nvPr/>
        </p:nvSpPr>
        <p:spPr>
          <a:xfrm>
            <a:off x="1904695" y="6286500"/>
            <a:ext cx="3620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One —</a:t>
            </a:r>
            <a:endParaRPr lang="en-US" sz="1650" dirty="0"/>
          </a:p>
        </p:txBody>
      </p:sp>
      <p:sp>
        <p:nvSpPr>
          <p:cNvPr id="10" name="Text 4"/>
          <p:cNvSpPr txBox="1"/>
          <p:nvPr/>
        </p:nvSpPr>
        <p:spPr>
          <a:xfrm>
            <a:off x="1904695" y="6495897"/>
            <a:ext cx="3620110" cy="1562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kern="0" spc="-29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Single.</a:t>
            </a:r>
            <a:endParaRPr lang="en-US" sz="2850" dirty="0"/>
          </a:p>
        </p:txBody>
      </p:sp>
      <p:sp>
        <p:nvSpPr>
          <p:cNvPr id="11" name="Text 5"/>
          <p:cNvSpPr txBox="1"/>
          <p:nvPr/>
        </p:nvSpPr>
        <p:spPr>
          <a:xfrm>
            <a:off x="1904695" y="7524597"/>
            <a:ext cx="3620110" cy="1535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metric dominates judgement.</a:t>
            </a:r>
            <a:endParaRPr lang="en-US" sz="1425" dirty="0"/>
          </a:p>
        </p:txBody>
      </p:sp>
      <p:sp>
        <p:nvSpPr>
          <p:cNvPr id="12" name="Text 6"/>
          <p:cNvSpPr txBox="1"/>
          <p:nvPr/>
        </p:nvSpPr>
        <p:spPr>
          <a:xfrm>
            <a:off x="5715000" y="6286500"/>
            <a:ext cx="3620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Two —</a:t>
            </a:r>
            <a:endParaRPr lang="en-US" sz="1650" dirty="0"/>
          </a:p>
        </p:txBody>
      </p:sp>
      <p:sp>
        <p:nvSpPr>
          <p:cNvPr id="13" name="Text 7"/>
          <p:cNvSpPr txBox="1"/>
          <p:nvPr/>
        </p:nvSpPr>
        <p:spPr>
          <a:xfrm>
            <a:off x="5715000" y="6724498"/>
            <a:ext cx="36201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kern="0" spc="-29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High-stakes.</a:t>
            </a:r>
            <a:endParaRPr lang="en-US" sz="2850" dirty="0"/>
          </a:p>
        </p:txBody>
      </p:sp>
      <p:sp>
        <p:nvSpPr>
          <p:cNvPr id="14" name="Text 8"/>
          <p:cNvSpPr txBox="1"/>
          <p:nvPr/>
        </p:nvSpPr>
        <p:spPr>
          <a:xfrm>
            <a:off x="5715000" y="7524598"/>
            <a:ext cx="36201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Pay, ranking, appraisal or blame depend heavily on it.</a:t>
            </a:r>
            <a:endParaRPr lang="en-US" sz="1425" dirty="0"/>
          </a:p>
        </p:txBody>
      </p:sp>
      <p:sp>
        <p:nvSpPr>
          <p:cNvPr id="15" name="Text 9"/>
          <p:cNvSpPr txBox="1"/>
          <p:nvPr/>
        </p:nvSpPr>
        <p:spPr>
          <a:xfrm>
            <a:off x="9525305" y="6286500"/>
            <a:ext cx="3620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Three —</a:t>
            </a:r>
            <a:endParaRPr lang="en-US" sz="1650" dirty="0"/>
          </a:p>
        </p:txBody>
      </p:sp>
      <p:sp>
        <p:nvSpPr>
          <p:cNvPr id="16" name="Text 10"/>
          <p:cNvSpPr txBox="1"/>
          <p:nvPr/>
        </p:nvSpPr>
        <p:spPr>
          <a:xfrm>
            <a:off x="9525305" y="6878114"/>
            <a:ext cx="3620110" cy="1180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kern="0" spc="-29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Easy to move.</a:t>
            </a:r>
            <a:endParaRPr lang="en-US" sz="2850" dirty="0"/>
          </a:p>
        </p:txBody>
      </p:sp>
      <p:sp>
        <p:nvSpPr>
          <p:cNvPr id="17" name="Text 11"/>
          <p:cNvSpPr txBox="1"/>
          <p:nvPr/>
        </p:nvSpPr>
        <p:spPr>
          <a:xfrm>
            <a:off x="9525305" y="7524598"/>
            <a:ext cx="3620110" cy="153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Classification, timing or sampling can alter the result.</a:t>
            </a:r>
            <a:endParaRPr lang="en-US" sz="1425" dirty="0"/>
          </a:p>
        </p:txBody>
      </p:sp>
      <p:sp>
        <p:nvSpPr>
          <p:cNvPr id="18" name="Text 12"/>
          <p:cNvSpPr txBox="1"/>
          <p:nvPr/>
        </p:nvSpPr>
        <p:spPr>
          <a:xfrm>
            <a:off x="13334695" y="6286500"/>
            <a:ext cx="3620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Four —</a:t>
            </a:r>
            <a:endParaRPr lang="en-US" sz="1650" dirty="0"/>
          </a:p>
        </p:txBody>
      </p:sp>
      <p:sp>
        <p:nvSpPr>
          <p:cNvPr id="19" name="Text 13"/>
          <p:cNvSpPr txBox="1"/>
          <p:nvPr/>
        </p:nvSpPr>
        <p:spPr>
          <a:xfrm>
            <a:off x="13322663" y="7011160"/>
            <a:ext cx="3620110" cy="1180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kern="0" spc="-29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Loosely linked.</a:t>
            </a:r>
            <a:endParaRPr lang="en-US" sz="2850" dirty="0"/>
          </a:p>
        </p:txBody>
      </p:sp>
      <p:sp>
        <p:nvSpPr>
          <p:cNvPr id="20" name="Text 14"/>
          <p:cNvSpPr txBox="1"/>
          <p:nvPr/>
        </p:nvSpPr>
        <p:spPr>
          <a:xfrm>
            <a:off x="13322663" y="7524597"/>
            <a:ext cx="362011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KPI can improve without customer quality improving.</a:t>
            </a:r>
            <a:endParaRPr lang="en-US" sz="1425" dirty="0"/>
          </a:p>
        </p:txBody>
      </p:sp>
      <p:sp>
        <p:nvSpPr>
          <p:cNvPr id="21" name="Text 15"/>
          <p:cNvSpPr txBox="1"/>
          <p:nvPr/>
        </p:nvSpPr>
        <p:spPr>
          <a:xfrm>
            <a:off x="1904695" y="9251130"/>
            <a:ext cx="15430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Good metrics guide attention. Badly designed targets redirect behaviour.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5659bdbce7acee9fd04f2a37feb1eb1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8667598" y="5715000"/>
            <a:ext cx="952805" cy="192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3238805"/>
            <a:ext cx="16193110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250" kern="0" spc="-225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Quality Mirage.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2476195" y="6246266"/>
            <a:ext cx="13335610" cy="270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situation in which measured quality</a:t>
            </a:r>
            <a:endParaRPr lang="en-US" sz="3150" dirty="0"/>
          </a:p>
          <a:p>
            <a:pPr marL="0" indent="0" algn="ctr">
              <a:lnSpc>
                <a:spcPts val="4410"/>
              </a:lnSpc>
              <a:buNone/>
            </a:pPr>
            <a:r>
              <a:rPr lang="en-US" sz="31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improves faster than the underlying reality</a:t>
            </a:r>
            <a:endParaRPr lang="en-US" sz="3150" dirty="0"/>
          </a:p>
          <a:p>
            <a:pPr marL="0" indent="0" algn="ctr">
              <a:lnSpc>
                <a:spcPts val="4410"/>
              </a:lnSpc>
              <a:buNone/>
            </a:pPr>
            <a:r>
              <a:rPr lang="en-US" sz="31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it is supposed to represent.</a:t>
            </a:r>
            <a:endParaRPr lang="en-US" sz="3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728aeb37cc726f9d0c0a2e767183c6b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10477195" y="2286000"/>
            <a:ext cx="9144" cy="647669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29660" y="2095805"/>
            <a:ext cx="779564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600" kern="0" spc="-99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Why do people</a:t>
            </a:r>
            <a:r>
              <a:rPr lang="en-US" sz="6600" dirty="0"/>
              <a:t> </a:t>
            </a:r>
            <a:r>
              <a:rPr lang="en-US" sz="6600" kern="0" spc="-99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game metrics?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1816768" y="4667097"/>
            <a:ext cx="7937137" cy="152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2800" i="1" dirty="0"/>
              <a:t>Often not simply because people are dishonest — but because the system changes what they are rewarded for</a:t>
            </a:r>
            <a:r>
              <a:rPr lang="en-US" sz="2800" dirty="0"/>
              <a:t>.</a:t>
            </a:r>
            <a:endParaRPr lang="en-US" sz="2550" dirty="0"/>
          </a:p>
        </p:txBody>
      </p:sp>
      <p:sp>
        <p:nvSpPr>
          <p:cNvPr id="5" name="Text 2"/>
          <p:cNvSpPr txBox="1"/>
          <p:nvPr/>
        </p:nvSpPr>
        <p:spPr>
          <a:xfrm>
            <a:off x="1816768" y="6667805"/>
            <a:ext cx="7937137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When the number carries appraisal, ranking, bonus or blame with it, the number becomes the thing to protect.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10858500" y="2286000"/>
            <a:ext cx="6286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tightens around the number —</a:t>
            </a:r>
            <a:endParaRPr lang="en-US" sz="1950" dirty="0"/>
          </a:p>
        </p:txBody>
      </p:sp>
      <p:sp>
        <p:nvSpPr>
          <p:cNvPr id="7" name="Text 4"/>
          <p:cNvSpPr txBox="1"/>
          <p:nvPr/>
        </p:nvSpPr>
        <p:spPr>
          <a:xfrm>
            <a:off x="10858500" y="2908706"/>
            <a:ext cx="6286500" cy="575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34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A. Pressure.</a:t>
            </a:r>
            <a:endParaRPr lang="en-US" sz="3450" dirty="0"/>
          </a:p>
          <a:p>
            <a:pPr marL="0" indent="0" algn="l">
              <a:lnSpc>
                <a:spcPts val="4830"/>
              </a:lnSpc>
              <a:buNone/>
            </a:pPr>
            <a:r>
              <a:rPr lang="en-US" sz="34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B. Incentives.</a:t>
            </a:r>
            <a:endParaRPr lang="en-US" sz="3450" dirty="0"/>
          </a:p>
          <a:p>
            <a:pPr marL="0" indent="0" algn="l">
              <a:lnSpc>
                <a:spcPts val="4830"/>
              </a:lnSpc>
              <a:buNone/>
            </a:pPr>
            <a:r>
              <a:rPr lang="en-US" sz="34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C. Ranking.</a:t>
            </a:r>
            <a:endParaRPr lang="en-US" sz="3450" dirty="0"/>
          </a:p>
          <a:p>
            <a:pPr marL="0" indent="0" algn="l">
              <a:lnSpc>
                <a:spcPts val="4830"/>
              </a:lnSpc>
              <a:buNone/>
            </a:pPr>
            <a:r>
              <a:rPr lang="en-US" sz="34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D. Fear of missing.</a:t>
            </a:r>
            <a:endParaRPr lang="en-US" sz="3450" dirty="0"/>
          </a:p>
          <a:p>
            <a:pPr marL="0" indent="0" algn="l">
              <a:lnSpc>
                <a:spcPts val="4830"/>
              </a:lnSpc>
              <a:buNone/>
            </a:pPr>
            <a:r>
              <a:rPr lang="en-US" sz="34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E. Appraisal.</a:t>
            </a:r>
            <a:endParaRPr lang="en-US" sz="3450" dirty="0"/>
          </a:p>
        </p:txBody>
      </p:sp>
      <p:sp>
        <p:nvSpPr>
          <p:cNvPr id="8" name="Text 5"/>
          <p:cNvSpPr txBox="1"/>
          <p:nvPr/>
        </p:nvSpPr>
        <p:spPr>
          <a:xfrm>
            <a:off x="1904695" y="9810598"/>
            <a:ext cx="1543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Paraphrase; see references.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04695" y="2095805"/>
            <a:ext cx="154305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kern="0" spc="-9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it looks like on the shop floor.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1943100" y="3524098"/>
            <a:ext cx="1428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each target, a shortcut. Same number on the report — different reality underneath.</a:t>
            </a:r>
            <a:endParaRPr lang="en-US" sz="16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04695" y="4476902"/>
          <a:ext cx="14478610" cy="4696356"/>
        </p:xfrm>
        <a:graphic>
          <a:graphicData uri="http://schemas.openxmlformats.org/drawingml/2006/table">
            <a:tbl>
              <a:tblPr/>
              <a:tblGrid>
                <a:gridCol w="6080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27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>
                          <a:solidFill>
                            <a:srgbClr val="22201D"/>
                          </a:solidFill>
                          <a:latin typeface="Instrument Serif" pitchFamily="34" charset="0"/>
                          <a:ea typeface="Instrument Serif" pitchFamily="34" charset="-122"/>
                          <a:cs typeface="Instrument Serif" pitchFamily="34" charset="-120"/>
                        </a:rPr>
                        <a:t>The target</a:t>
                      </a:r>
                      <a:endParaRPr lang="en-US" sz="1800" dirty="0">
                        <a:latin typeface="Instrument Serif" charset="0"/>
                        <a:ea typeface="Instrument Serif" charset="0"/>
                        <a:cs typeface="Instrument Serif" charset="0"/>
                      </a:endParaRPr>
                    </a:p>
                  </a:txBody>
                  <a:tcPr marL="0" marR="228600" marT="152705" marB="152705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0" marT="152705" marB="152705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>
                          <a:solidFill>
                            <a:srgbClr val="C3554A"/>
                          </a:solidFill>
                          <a:latin typeface="Instrument Serif" pitchFamily="34" charset="0"/>
                          <a:ea typeface="Instrument Serif" pitchFamily="34" charset="-122"/>
                          <a:cs typeface="Instrument Serif" pitchFamily="34" charset="-120"/>
                        </a:rPr>
                        <a:t>The shortcut</a:t>
                      </a:r>
                      <a:endParaRPr lang="en-US" sz="1800" dirty="0">
                        <a:latin typeface="Instrument Serif" charset="0"/>
                        <a:ea typeface="Instrument Serif" charset="0"/>
                        <a:cs typeface="Instrument Serif" charset="0"/>
                      </a:endParaRPr>
                    </a:p>
                  </a:txBody>
                  <a:tcPr marL="228600" marR="0" marT="152705" marB="152705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50" dirty="0">
                          <a:solidFill>
                            <a:srgbClr val="22201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Reduce defects</a:t>
                      </a:r>
                      <a:endParaRPr lang="en-US" sz="1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22860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8A83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→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1" dirty="0">
                          <a:solidFill>
                            <a:srgbClr val="22201D"/>
                          </a:solidFill>
                          <a:latin typeface="Instrument Serif" pitchFamily="34" charset="0"/>
                          <a:ea typeface="Instrument Serif" pitchFamily="34" charset="-122"/>
                          <a:cs typeface="Instrument Serif" pitchFamily="34" charset="-120"/>
                        </a:rPr>
                        <a:t>Call borderline defects "minor".</a:t>
                      </a:r>
                      <a:endParaRPr lang="en-US" sz="2100" dirty="0">
                        <a:latin typeface="Instrument Serif" charset="0"/>
                        <a:ea typeface="Instrument Serif" charset="0"/>
                        <a:cs typeface="Instrument Serif" charset="0"/>
                      </a:endParaRPr>
                    </a:p>
                  </a:txBody>
                  <a:tcPr marL="228600" marR="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50" dirty="0">
                          <a:solidFill>
                            <a:srgbClr val="22201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Fewer complaints</a:t>
                      </a:r>
                      <a:endParaRPr lang="en-US" sz="1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22860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8A83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→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1" dirty="0">
                          <a:solidFill>
                            <a:srgbClr val="22201D"/>
                          </a:solidFill>
                          <a:latin typeface="Instrument Serif" pitchFamily="34" charset="0"/>
                          <a:ea typeface="Instrument Serif" pitchFamily="34" charset="-122"/>
                          <a:cs typeface="Instrument Serif" pitchFamily="34" charset="-120"/>
                        </a:rPr>
                        <a:t>Discourage complaints from being logged.</a:t>
                      </a:r>
                      <a:endParaRPr lang="en-US" sz="2100" dirty="0">
                        <a:latin typeface="Instrument Serif" charset="0"/>
                        <a:ea typeface="Instrument Serif" charset="0"/>
                        <a:cs typeface="Instrument Serif" charset="0"/>
                      </a:endParaRPr>
                    </a:p>
                  </a:txBody>
                  <a:tcPr marL="228600" marR="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50" dirty="0">
                          <a:solidFill>
                            <a:srgbClr val="22201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Lower inspection failure rate</a:t>
                      </a:r>
                      <a:endParaRPr lang="en-US" sz="1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22860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8A83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→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1" dirty="0">
                          <a:solidFill>
                            <a:srgbClr val="22201D"/>
                          </a:solidFill>
                          <a:latin typeface="Instrument Serif" pitchFamily="34" charset="0"/>
                          <a:ea typeface="Instrument Serif" pitchFamily="34" charset="-122"/>
                          <a:cs typeface="Instrument Serif" pitchFamily="34" charset="-120"/>
                        </a:rPr>
                        <a:t>Soften inspection or avoid tough samples.</a:t>
                      </a:r>
                      <a:endParaRPr lang="en-US" sz="2100" dirty="0">
                        <a:latin typeface="Instrument Serif" charset="0"/>
                        <a:ea typeface="Instrument Serif" charset="0"/>
                        <a:cs typeface="Instrument Serif" charset="0"/>
                      </a:endParaRPr>
                    </a:p>
                  </a:txBody>
                  <a:tcPr marL="228600" marR="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2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50" dirty="0">
                          <a:solidFill>
                            <a:srgbClr val="22201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100% on-time delivery</a:t>
                      </a:r>
                      <a:endParaRPr lang="en-US" sz="1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22860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8A83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→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1" dirty="0">
                          <a:solidFill>
                            <a:srgbClr val="22201D"/>
                          </a:solidFill>
                          <a:latin typeface="Instrument Serif" pitchFamily="34" charset="0"/>
                          <a:ea typeface="Instrument Serif" pitchFamily="34" charset="-122"/>
                          <a:cs typeface="Instrument Serif" pitchFamily="34" charset="-120"/>
                        </a:rPr>
                        <a:t>Ship incomplete or rushed orders.</a:t>
                      </a:r>
                      <a:endParaRPr lang="en-US" sz="2100" dirty="0">
                        <a:latin typeface="Instrument Serif" charset="0"/>
                        <a:ea typeface="Instrument Serif" charset="0"/>
                        <a:cs typeface="Instrument Serif" charset="0"/>
                      </a:endParaRPr>
                    </a:p>
                  </a:txBody>
                  <a:tcPr marL="228600" marR="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2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50" dirty="0">
                          <a:solidFill>
                            <a:srgbClr val="22201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Higher output</a:t>
                      </a:r>
                      <a:endParaRPr lang="en-US" sz="1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22860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8A83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→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i="1" dirty="0">
                          <a:solidFill>
                            <a:srgbClr val="22201D"/>
                          </a:solidFill>
                          <a:latin typeface="Instrument Serif" pitchFamily="34" charset="0"/>
                          <a:ea typeface="Instrument Serif" pitchFamily="34" charset="-122"/>
                          <a:cs typeface="Instrument Serif" pitchFamily="34" charset="-120"/>
                        </a:rPr>
                        <a:t>Skip inspection time or cut corners.</a:t>
                      </a:r>
                      <a:endParaRPr lang="en-US" sz="2100" dirty="0">
                        <a:latin typeface="Instrument Serif" charset="0"/>
                        <a:ea typeface="Instrument Serif" charset="0"/>
                        <a:cs typeface="Instrument Serif" charset="0"/>
                      </a:endParaRPr>
                    </a:p>
                  </a:txBody>
                  <a:tcPr marL="228600" marR="0" marT="228600" marB="228600" anchor="ctr">
                    <a:lnL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904695" y="9430207"/>
            <a:ext cx="15430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Not dishonest people — a system that quietly rewards the shortcut.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e1893b710e68955befbac8a82f65417.png"/>
          <p:cNvPicPr>
            <a:picLocks noChangeAspect="1"/>
          </p:cNvPicPr>
          <p:nvPr/>
        </p:nvPicPr>
        <p:blipFill>
          <a:blip r:embed="rId3"/>
          <a:srcRect t="-397" b="-397"/>
          <a:stretch/>
        </p:blipFill>
        <p:spPr>
          <a:xfrm>
            <a:off x="1904695" y="5029200"/>
            <a:ext cx="4953305" cy="19202"/>
          </a:xfrm>
          <a:prstGeom prst="rect">
            <a:avLst/>
          </a:prstGeom>
        </p:spPr>
      </p:pic>
      <p:pic>
        <p:nvPicPr>
          <p:cNvPr id="3" name="Image 1" descr="gen-dedup-8e1893b710e68955befbac8a82f65417.png"/>
          <p:cNvPicPr>
            <a:picLocks noChangeAspect="1"/>
          </p:cNvPicPr>
          <p:nvPr/>
        </p:nvPicPr>
        <p:blipFill>
          <a:blip r:embed="rId3"/>
          <a:srcRect t="-397" b="-397"/>
          <a:stretch/>
        </p:blipFill>
        <p:spPr>
          <a:xfrm>
            <a:off x="7239305" y="5029200"/>
            <a:ext cx="4953305" cy="19202"/>
          </a:xfrm>
          <a:prstGeom prst="rect">
            <a:avLst/>
          </a:prstGeom>
        </p:spPr>
      </p:pic>
      <p:pic>
        <p:nvPicPr>
          <p:cNvPr id="4" name="Image 2" descr="gen-dedup-33666d3ef895ae51c1aac9a040b30e25.png"/>
          <p:cNvPicPr>
            <a:picLocks noChangeAspect="1"/>
          </p:cNvPicPr>
          <p:nvPr/>
        </p:nvPicPr>
        <p:blipFill>
          <a:blip r:embed="rId4"/>
          <a:srcRect t="-403" b="-403"/>
          <a:stretch/>
        </p:blipFill>
        <p:spPr>
          <a:xfrm>
            <a:off x="12573000" y="5029200"/>
            <a:ext cx="4762195" cy="1920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904695" y="1924810"/>
            <a:ext cx="15430500" cy="1410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kern="0" spc="-9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Three ways a quality metric can lie.</a:t>
            </a:r>
            <a:endParaRPr lang="en-US" sz="6000" dirty="0"/>
          </a:p>
        </p:txBody>
      </p:sp>
      <p:sp>
        <p:nvSpPr>
          <p:cNvPr id="6" name="Text 1"/>
          <p:cNvSpPr txBox="1"/>
          <p:nvPr/>
        </p:nvSpPr>
        <p:spPr>
          <a:xfrm>
            <a:off x="1943100" y="3524098"/>
            <a:ext cx="1428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i="1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always deliberate — behavioural failure modes when the target starts to matter more than the process.</a:t>
            </a:r>
            <a:endParaRPr lang="en-US" sz="1650" b="1" i="1" dirty="0"/>
          </a:p>
        </p:txBody>
      </p:sp>
      <p:sp>
        <p:nvSpPr>
          <p:cNvPr id="7" name="Text 2"/>
          <p:cNvSpPr txBox="1"/>
          <p:nvPr/>
        </p:nvSpPr>
        <p:spPr>
          <a:xfrm>
            <a:off x="1904695" y="4572000"/>
            <a:ext cx="4953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b="1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Classification —</a:t>
            </a:r>
            <a:endParaRPr lang="en-US" sz="1950" b="1" dirty="0"/>
          </a:p>
        </p:txBody>
      </p:sp>
      <p:sp>
        <p:nvSpPr>
          <p:cNvPr id="8" name="Text 3"/>
          <p:cNvSpPr txBox="1"/>
          <p:nvPr/>
        </p:nvSpPr>
        <p:spPr>
          <a:xfrm>
            <a:off x="1904695" y="5257800"/>
            <a:ext cx="495330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kern="0" spc="-13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event occurs, but its label changes.</a:t>
            </a:r>
            <a:endParaRPr lang="en-US" sz="2700" dirty="0"/>
          </a:p>
        </p:txBody>
      </p:sp>
      <p:sp>
        <p:nvSpPr>
          <p:cNvPr id="9" name="Text 4"/>
          <p:cNvSpPr txBox="1"/>
          <p:nvPr/>
        </p:nvSpPr>
        <p:spPr>
          <a:xfrm>
            <a:off x="1904694" y="7033566"/>
            <a:ext cx="495330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example</a:t>
            </a:r>
            <a:endParaRPr lang="en-US" sz="1400" b="1" dirty="0"/>
          </a:p>
        </p:txBody>
      </p:sp>
      <p:sp>
        <p:nvSpPr>
          <p:cNvPr id="10" name="Text 5"/>
          <p:cNvSpPr txBox="1"/>
          <p:nvPr/>
        </p:nvSpPr>
        <p:spPr>
          <a:xfrm>
            <a:off x="1904694" y="7809891"/>
            <a:ext cx="5482695" cy="135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"Defect" becomes</a:t>
            </a:r>
            <a:endParaRPr lang="en-US" sz="1950" dirty="0"/>
          </a:p>
          <a:p>
            <a:pPr marL="0" indent="0" algn="l">
              <a:lnSpc>
                <a:spcPts val="2730"/>
              </a:lnSpc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"minor deviation".</a:t>
            </a:r>
            <a:endParaRPr lang="en-US" sz="1950" dirty="0"/>
          </a:p>
        </p:txBody>
      </p:sp>
      <p:sp>
        <p:nvSpPr>
          <p:cNvPr id="11" name="Text 6"/>
          <p:cNvSpPr txBox="1"/>
          <p:nvPr/>
        </p:nvSpPr>
        <p:spPr>
          <a:xfrm>
            <a:off x="7239305" y="4572000"/>
            <a:ext cx="4953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b="1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Timing —</a:t>
            </a:r>
            <a:endParaRPr lang="en-US" sz="1950" b="1" dirty="0"/>
          </a:p>
        </p:txBody>
      </p:sp>
      <p:sp>
        <p:nvSpPr>
          <p:cNvPr id="12" name="Text 7"/>
          <p:cNvSpPr txBox="1"/>
          <p:nvPr/>
        </p:nvSpPr>
        <p:spPr>
          <a:xfrm>
            <a:off x="7239305" y="5257800"/>
            <a:ext cx="495330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kern="0" spc="-13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event is recorded outside the measurement window.</a:t>
            </a: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7239305" y="7119519"/>
            <a:ext cx="495330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example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7239305" y="7563002"/>
            <a:ext cx="4953305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Rework completed just before the monthly defect report closes.</a:t>
            </a:r>
            <a:endParaRPr lang="en-US" sz="1950" dirty="0"/>
          </a:p>
        </p:txBody>
      </p:sp>
      <p:sp>
        <p:nvSpPr>
          <p:cNvPr id="15" name="Text 10"/>
          <p:cNvSpPr txBox="1"/>
          <p:nvPr/>
        </p:nvSpPr>
        <p:spPr>
          <a:xfrm>
            <a:off x="12573000" y="4534051"/>
            <a:ext cx="4953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b="1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Sampling —</a:t>
            </a:r>
            <a:endParaRPr lang="en-US" sz="1950" b="1" dirty="0"/>
          </a:p>
        </p:txBody>
      </p:sp>
      <p:sp>
        <p:nvSpPr>
          <p:cNvPr id="16" name="Text 11"/>
          <p:cNvSpPr txBox="1"/>
          <p:nvPr/>
        </p:nvSpPr>
        <p:spPr>
          <a:xfrm>
            <a:off x="12573000" y="5257800"/>
            <a:ext cx="476311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kern="0" spc="-13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measurement process itself changes.</a:t>
            </a:r>
            <a:endParaRPr lang="en-US" sz="2700" dirty="0"/>
          </a:p>
        </p:txBody>
      </p:sp>
      <p:sp>
        <p:nvSpPr>
          <p:cNvPr id="17" name="Text 12"/>
          <p:cNvSpPr txBox="1"/>
          <p:nvPr/>
        </p:nvSpPr>
        <p:spPr>
          <a:xfrm>
            <a:off x="12573000" y="6972300"/>
            <a:ext cx="476311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example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2573000" y="7563002"/>
            <a:ext cx="47631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Easier samples inspected more often than the difficult ones.</a:t>
            </a:r>
            <a:endParaRPr lang="en-US" sz="1950" dirty="0"/>
          </a:p>
        </p:txBody>
      </p:sp>
      <p:sp>
        <p:nvSpPr>
          <p:cNvPr id="19" name="Text 14"/>
          <p:cNvSpPr txBox="1"/>
          <p:nvPr/>
        </p:nvSpPr>
        <p:spPr>
          <a:xfrm>
            <a:off x="1904695" y="9168689"/>
            <a:ext cx="1543050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process does not have to improve for the KPI to improve.</a:t>
            </a:r>
            <a:endParaRPr lang="en-US" sz="1800" dirty="0"/>
          </a:p>
          <a:p>
            <a:pPr marL="0" indent="0" algn="l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Sometimes only the definition, timing or sample changes.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3fc47b606c8d7dde0eac1bc6e6b3d1a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10382098" y="5143500"/>
            <a:ext cx="3047695" cy="9144"/>
          </a:xfrm>
          <a:prstGeom prst="rect">
            <a:avLst/>
          </a:prstGeom>
        </p:spPr>
      </p:pic>
      <p:pic>
        <p:nvPicPr>
          <p:cNvPr id="3" name="Image 1" descr="gen-dedup-fec1b789e13e27089cfba5af862254db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13906195" y="5143500"/>
            <a:ext cx="3047695" cy="91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904695" y="2095805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150" kern="0" spc="-92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Precision Components Ltd.</a:t>
            </a:r>
            <a:endParaRPr lang="en-US" sz="6150" dirty="0"/>
          </a:p>
        </p:txBody>
      </p:sp>
      <p:sp>
        <p:nvSpPr>
          <p:cNvPr id="5" name="Text 1"/>
          <p:cNvSpPr txBox="1"/>
          <p:nvPr/>
        </p:nvSpPr>
        <p:spPr>
          <a:xfrm>
            <a:off x="1943100" y="3295498"/>
            <a:ext cx="1428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 illustrative case — a mid-sized manufacturer, invented for teaching</a:t>
            </a:r>
            <a:r>
              <a:rPr lang="en-US" sz="180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1904695" y="4667098"/>
            <a:ext cx="7810805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990"/>
              </a:lnSpc>
              <a:buNone/>
            </a:pPr>
            <a:r>
              <a:rPr lang="en-US" sz="28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Management issues a directive: </a:t>
            </a:r>
            <a:r>
              <a:rPr lang="en-US" sz="285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monthly rejected units must fall below 1%.</a:t>
            </a:r>
            <a:endParaRPr lang="en-US" sz="2850" dirty="0"/>
          </a:p>
        </p:txBody>
      </p:sp>
      <p:sp>
        <p:nvSpPr>
          <p:cNvPr id="7" name="Text 3"/>
          <p:cNvSpPr txBox="1"/>
          <p:nvPr/>
        </p:nvSpPr>
        <p:spPr>
          <a:xfrm>
            <a:off x="1904695" y="7334402"/>
            <a:ext cx="78108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target is tied to appraisals and monthly rankings. Meeting it begins to matter for how people are seen inside the organisation.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10382098" y="4667098"/>
            <a:ext cx="3238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Month 1</a:t>
            </a:r>
            <a:endParaRPr lang="en-US" sz="1950" dirty="0"/>
          </a:p>
        </p:txBody>
      </p:sp>
      <p:sp>
        <p:nvSpPr>
          <p:cNvPr id="9" name="Text 5"/>
          <p:cNvSpPr txBox="1"/>
          <p:nvPr/>
        </p:nvSpPr>
        <p:spPr>
          <a:xfrm>
            <a:off x="10382098" y="53913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0F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Reported</a:t>
            </a:r>
            <a:endParaRPr lang="en-US" sz="1200" b="1" dirty="0"/>
          </a:p>
        </p:txBody>
      </p:sp>
      <p:sp>
        <p:nvSpPr>
          <p:cNvPr id="10" name="Text 6"/>
          <p:cNvSpPr txBox="1"/>
          <p:nvPr/>
        </p:nvSpPr>
        <p:spPr>
          <a:xfrm>
            <a:off x="10382098" y="5695798"/>
            <a:ext cx="3238805" cy="10479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2.1%</a:t>
            </a:r>
            <a:endParaRPr lang="en-US" sz="7500" dirty="0"/>
          </a:p>
        </p:txBody>
      </p:sp>
      <p:sp>
        <p:nvSpPr>
          <p:cNvPr id="11" name="Text 7"/>
          <p:cNvSpPr txBox="1"/>
          <p:nvPr/>
        </p:nvSpPr>
        <p:spPr>
          <a:xfrm>
            <a:off x="10382098" y="6953098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C355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Actual</a:t>
            </a:r>
            <a:endParaRPr lang="en-US" sz="1200" b="1" dirty="0"/>
          </a:p>
        </p:txBody>
      </p:sp>
      <p:sp>
        <p:nvSpPr>
          <p:cNvPr id="12" name="Text 8"/>
          <p:cNvSpPr txBox="1"/>
          <p:nvPr/>
        </p:nvSpPr>
        <p:spPr>
          <a:xfrm>
            <a:off x="10382098" y="7258507"/>
            <a:ext cx="3238805" cy="10479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2.3%</a:t>
            </a:r>
            <a:endParaRPr lang="en-US" sz="7500" dirty="0"/>
          </a:p>
        </p:txBody>
      </p:sp>
      <p:sp>
        <p:nvSpPr>
          <p:cNvPr id="13" name="Text 9"/>
          <p:cNvSpPr txBox="1"/>
          <p:nvPr/>
        </p:nvSpPr>
        <p:spPr>
          <a:xfrm>
            <a:off x="10382098" y="8496605"/>
            <a:ext cx="3238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Dashboard is close to reality.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3906195" y="4667098"/>
            <a:ext cx="3238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C3554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Month 6</a:t>
            </a:r>
            <a:endParaRPr lang="en-US" sz="1950" dirty="0"/>
          </a:p>
        </p:txBody>
      </p:sp>
      <p:sp>
        <p:nvSpPr>
          <p:cNvPr id="15" name="Text 11"/>
          <p:cNvSpPr txBox="1"/>
          <p:nvPr/>
        </p:nvSpPr>
        <p:spPr>
          <a:xfrm>
            <a:off x="13906195" y="53913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0F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Reported</a:t>
            </a:r>
            <a:endParaRPr lang="en-US" sz="1200" b="1" dirty="0"/>
          </a:p>
        </p:txBody>
      </p:sp>
      <p:sp>
        <p:nvSpPr>
          <p:cNvPr id="16" name="Text 12"/>
          <p:cNvSpPr txBox="1"/>
          <p:nvPr/>
        </p:nvSpPr>
        <p:spPr>
          <a:xfrm>
            <a:off x="13906195" y="5695798"/>
            <a:ext cx="3238805" cy="10479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0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0.9%</a:t>
            </a:r>
            <a:endParaRPr lang="en-US" sz="7500" dirty="0"/>
          </a:p>
        </p:txBody>
      </p:sp>
      <p:sp>
        <p:nvSpPr>
          <p:cNvPr id="17" name="Text 13"/>
          <p:cNvSpPr txBox="1"/>
          <p:nvPr/>
        </p:nvSpPr>
        <p:spPr>
          <a:xfrm>
            <a:off x="13906195" y="6972300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C355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Actual</a:t>
            </a:r>
            <a:endParaRPr lang="en-US" sz="1200" b="1" dirty="0"/>
          </a:p>
        </p:txBody>
      </p:sp>
      <p:sp>
        <p:nvSpPr>
          <p:cNvPr id="18" name="Text 14"/>
          <p:cNvSpPr txBox="1"/>
          <p:nvPr/>
        </p:nvSpPr>
        <p:spPr>
          <a:xfrm>
            <a:off x="13906195" y="7258507"/>
            <a:ext cx="3238805" cy="10479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0" dirty="0">
                <a:solidFill>
                  <a:srgbClr val="C3554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2.5%</a:t>
            </a:r>
            <a:endParaRPr lang="en-US" sz="7500" dirty="0"/>
          </a:p>
        </p:txBody>
      </p:sp>
      <p:sp>
        <p:nvSpPr>
          <p:cNvPr id="19" name="Text 15"/>
          <p:cNvSpPr txBox="1"/>
          <p:nvPr/>
        </p:nvSpPr>
        <p:spPr>
          <a:xfrm>
            <a:off x="13906195" y="8496605"/>
            <a:ext cx="3238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After pressure, they've drifted apart.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904695" y="9468853"/>
            <a:ext cx="15430500" cy="57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Numbers are fictional. Precision Components Ltd. is hypothetical</a:t>
            </a:r>
            <a:r>
              <a:rPr lang="en-US" sz="1050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04695" y="1323474"/>
            <a:ext cx="15430500" cy="210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kern="0" spc="-9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They improved the measurement,</a:t>
            </a:r>
            <a:endParaRPr lang="en-US" sz="6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kern="0" spc="-9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not the quality.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1904695" y="3332747"/>
            <a:ext cx="14287500" cy="763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Precision Components Ltd., across six months.</a:t>
            </a:r>
            <a:endParaRPr lang="en-US" sz="1650" dirty="0"/>
          </a:p>
        </p:txBody>
      </p:sp>
      <p:pic>
        <p:nvPicPr>
          <p:cNvPr id="4" name="Image 0" descr="gen-dedup-626d1598b5f41c85159fe267483b9045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904695" y="3946358"/>
            <a:ext cx="14477695" cy="51025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 2"/>
          <p:cNvSpPr txBox="1"/>
          <p:nvPr/>
        </p:nvSpPr>
        <p:spPr>
          <a:xfrm>
            <a:off x="1904695" y="9334195"/>
            <a:ext cx="7810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Dashboard hits the target by month five.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096805" y="9334195"/>
            <a:ext cx="7239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1" dirty="0">
                <a:solidFill>
                  <a:srgbClr val="C3554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real process quietly gets a little worse.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404042" y="9849482"/>
            <a:ext cx="582344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Fictional data, for illustration</a:t>
            </a:r>
            <a:r>
              <a:rPr lang="en-US" sz="1050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421a6afe7ec76584f58ee093127cf52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2667305" y="4190695"/>
            <a:ext cx="9144" cy="4762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19756" y="4286707"/>
            <a:ext cx="105156" cy="105156"/>
          </a:xfrm>
          <a:prstGeom prst="ellipse">
            <a:avLst/>
          </a:prstGeom>
          <a:solidFill>
            <a:srgbClr val="0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2619756" y="4953305"/>
            <a:ext cx="105156" cy="105156"/>
          </a:xfrm>
          <a:prstGeom prst="ellipse">
            <a:avLst/>
          </a:prstGeom>
          <a:solidFill>
            <a:srgbClr val="0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2619756" y="5619902"/>
            <a:ext cx="105156" cy="105156"/>
          </a:xfrm>
          <a:prstGeom prst="ellipse">
            <a:avLst/>
          </a:prstGeom>
          <a:solidFill>
            <a:srgbClr val="0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619756" y="6286500"/>
            <a:ext cx="105156" cy="105156"/>
          </a:xfrm>
          <a:prstGeom prst="ellipse">
            <a:avLst/>
          </a:prstGeom>
          <a:solidFill>
            <a:srgbClr val="0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619756" y="6953098"/>
            <a:ext cx="105156" cy="105156"/>
          </a:xfrm>
          <a:prstGeom prst="ellipse">
            <a:avLst/>
          </a:prstGeom>
          <a:solidFill>
            <a:srgbClr val="C355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619756" y="7619695"/>
            <a:ext cx="105156" cy="105156"/>
          </a:xfrm>
          <a:prstGeom prst="ellipse">
            <a:avLst/>
          </a:prstGeom>
          <a:solidFill>
            <a:srgbClr val="C355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619756" y="8287207"/>
            <a:ext cx="105156" cy="105156"/>
          </a:xfrm>
          <a:prstGeom prst="ellipse">
            <a:avLst/>
          </a:prstGeom>
          <a:solidFill>
            <a:srgbClr val="C355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600554" y="8934602"/>
            <a:ext cx="142646" cy="142646"/>
          </a:xfrm>
          <a:prstGeom prst="ellipse">
            <a:avLst/>
          </a:prstGeom>
          <a:solidFill>
            <a:srgbClr val="2220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1104017" y="733589"/>
            <a:ext cx="11264446" cy="243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kern="0" spc="-9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From a target to a complaint,</a:t>
            </a:r>
            <a:endParaRPr lang="en-US" sz="6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kern="0" spc="-9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 a few short steps.</a:t>
            </a:r>
            <a:endParaRPr lang="en-US" sz="6000" dirty="0"/>
          </a:p>
        </p:txBody>
      </p:sp>
      <p:sp>
        <p:nvSpPr>
          <p:cNvPr id="12" name="Text 9"/>
          <p:cNvSpPr txBox="1"/>
          <p:nvPr/>
        </p:nvSpPr>
        <p:spPr>
          <a:xfrm>
            <a:off x="3238805" y="3729789"/>
            <a:ext cx="14097305" cy="7855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target is set on a quality number</a:t>
            </a: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238805" y="4762195"/>
            <a:ext cx="14097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Reward and appraisal start to depend on it.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238805" y="5429707"/>
            <a:ext cx="14097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Each team focuses on its own score.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238805" y="6096305"/>
            <a:ext cx="14097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Small shortcuts appear — reclassify, soften, rush.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3238805" y="6762901"/>
            <a:ext cx="14097305" cy="528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report stops matching the floor.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3238805" y="7429500"/>
            <a:ext cx="14097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Managers see a healthy dashboard.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3238805" y="8096098"/>
            <a:ext cx="14097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Real problems remain — sometimes get worse.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3238805" y="8762694"/>
            <a:ext cx="14097305" cy="718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customer finds out</a:t>
            </a:r>
            <a:r>
              <a:rPr lang="en-US" sz="240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</a:t>
            </a:r>
            <a:endParaRPr lang="en-US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62F7571-EDD7-D494-13A8-556B46912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340" y="421105"/>
            <a:ext cx="16204532" cy="97885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f6bf0c1db2c95cb5838e9424629f11b.png"/>
          <p:cNvPicPr>
            <a:picLocks noChangeAspect="1"/>
          </p:cNvPicPr>
          <p:nvPr/>
        </p:nvPicPr>
        <p:blipFill>
          <a:blip r:embed="rId3"/>
          <a:srcRect t="-2089" b="-2089"/>
          <a:stretch/>
        </p:blipFill>
        <p:spPr>
          <a:xfrm>
            <a:off x="11430000" y="4858207"/>
            <a:ext cx="9144" cy="381030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04695" y="2095805"/>
            <a:ext cx="15430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150" kern="0" spc="-92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Every department can win —</a:t>
            </a:r>
            <a:endParaRPr lang="en-US" sz="615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6150" kern="0" spc="-92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and the system can still lose.</a:t>
            </a:r>
            <a:endParaRPr lang="en-US" sz="6150" dirty="0"/>
          </a:p>
        </p:txBody>
      </p:sp>
      <p:pic>
        <p:nvPicPr>
          <p:cNvPr id="4" name="Image 1" descr="gen-dedup-75cc788df6377f7ff3e058aafccbb4f2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904695" y="4596063"/>
            <a:ext cx="8755284" cy="42591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11811305" y="4858207"/>
            <a:ext cx="5524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 Deming's terms —</a:t>
            </a:r>
            <a:endParaRPr lang="en-US" sz="1950" dirty="0"/>
          </a:p>
        </p:txBody>
      </p:sp>
      <p:sp>
        <p:nvSpPr>
          <p:cNvPr id="6" name="Text 2"/>
          <p:cNvSpPr txBox="1"/>
          <p:nvPr/>
        </p:nvSpPr>
        <p:spPr>
          <a:xfrm>
            <a:off x="11811305" y="4596063"/>
            <a:ext cx="5524805" cy="359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Judge the system by what it delivers — not by the local scores each department manages to post.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1801849" y="9396663"/>
            <a:ext cx="15533346" cy="642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³ Deming Institute, System of Profound Knowledge.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9dd911a34a1f48560461359eaf1fd3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 flipV="1">
            <a:off x="1251285" y="5456222"/>
            <a:ext cx="8464216" cy="49543"/>
          </a:xfrm>
          <a:prstGeom prst="rect">
            <a:avLst/>
          </a:prstGeom>
        </p:spPr>
      </p:pic>
      <p:pic>
        <p:nvPicPr>
          <p:cNvPr id="3" name="Image 1" descr="gen-dedup-0e3fa4d28bf7dc7b6db035a3789e2aec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0287000" y="5410505"/>
            <a:ext cx="6858000" cy="91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51284" y="1550823"/>
            <a:ext cx="16083911" cy="264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600" kern="0" spc="-99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If the data is wrong,</a:t>
            </a:r>
            <a:endParaRPr lang="en-US" sz="660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6600" kern="0" spc="-99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control chart is </a:t>
            </a:r>
            <a:r>
              <a:rPr lang="en-US" sz="6600" i="1" kern="0" spc="-99" dirty="0">
                <a:solidFill>
                  <a:srgbClr val="C3554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wrong</a:t>
            </a:r>
            <a:r>
              <a:rPr lang="en-US" sz="6600" kern="0" spc="-99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too.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1515979" y="4620463"/>
            <a:ext cx="8199521" cy="7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breaks —</a:t>
            </a:r>
            <a:endParaRPr lang="en-US" sz="1950" dirty="0"/>
          </a:p>
        </p:txBody>
      </p:sp>
      <p:sp>
        <p:nvSpPr>
          <p:cNvPr id="6" name="Text 2"/>
          <p:cNvSpPr txBox="1"/>
          <p:nvPr/>
        </p:nvSpPr>
        <p:spPr>
          <a:xfrm>
            <a:off x="1371601" y="6179283"/>
            <a:ext cx="8343900" cy="2584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25"/>
              </a:lnSpc>
              <a:buNone/>
            </a:pPr>
            <a:r>
              <a:rPr lang="en-US" sz="25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A. Variation looks smaller than it is.</a:t>
            </a:r>
            <a:endParaRPr lang="en-US" sz="2550" dirty="0"/>
          </a:p>
          <a:p>
            <a:pPr marL="0" indent="0" algn="l">
              <a:lnSpc>
                <a:spcPts val="3825"/>
              </a:lnSpc>
              <a:buNone/>
            </a:pPr>
            <a:r>
              <a:rPr lang="en-US" sz="25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B. Special causes stop showing up.</a:t>
            </a:r>
            <a:endParaRPr lang="en-US" sz="2550" dirty="0"/>
          </a:p>
          <a:p>
            <a:pPr marL="0" indent="0" algn="l">
              <a:lnSpc>
                <a:spcPts val="3825"/>
              </a:lnSpc>
              <a:buNone/>
            </a:pPr>
            <a:r>
              <a:rPr lang="en-US" sz="25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C. Capability indices mislead.</a:t>
            </a:r>
            <a:endParaRPr lang="en-US" sz="2550" dirty="0"/>
          </a:p>
        </p:txBody>
      </p:sp>
      <p:sp>
        <p:nvSpPr>
          <p:cNvPr id="7" name="Text 3"/>
          <p:cNvSpPr txBox="1"/>
          <p:nvPr/>
        </p:nvSpPr>
        <p:spPr>
          <a:xfrm>
            <a:off x="10287000" y="4620463"/>
            <a:ext cx="7620610" cy="75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Real vs sanitised —</a:t>
            </a:r>
            <a:endParaRPr lang="en-US" sz="1950" dirty="0"/>
          </a:p>
        </p:txBody>
      </p:sp>
      <p:pic>
        <p:nvPicPr>
          <p:cNvPr id="8" name="Image 2" descr="gen-dedup-5b7838ae62abafd15c543ace13877551.png"/>
          <p:cNvPicPr>
            <a:picLocks noChangeAspect="1"/>
          </p:cNvPicPr>
          <p:nvPr/>
        </p:nvPicPr>
        <p:blipFill>
          <a:blip r:embed="rId5"/>
          <a:srcRect t="-5" b="-5"/>
          <a:stretch/>
        </p:blipFill>
        <p:spPr>
          <a:xfrm>
            <a:off x="10130589" y="5555309"/>
            <a:ext cx="7014411" cy="368379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71601" y="9239098"/>
            <a:ext cx="15963594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chart still looks like a chart. It just no longer tells the truth about the process.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6dcbeabd131cdb5fe5fe40489377832.png"/>
          <p:cNvPicPr>
            <a:picLocks noChangeAspect="1"/>
          </p:cNvPicPr>
          <p:nvPr/>
        </p:nvPicPr>
        <p:blipFill>
          <a:blip r:embed="rId3"/>
          <a:srcRect t="-402" b="-402"/>
          <a:stretch/>
        </p:blipFill>
        <p:spPr>
          <a:xfrm>
            <a:off x="1904695" y="5029200"/>
            <a:ext cx="7048195" cy="19202"/>
          </a:xfrm>
          <a:prstGeom prst="rect">
            <a:avLst/>
          </a:prstGeom>
        </p:spPr>
      </p:pic>
      <p:pic>
        <p:nvPicPr>
          <p:cNvPr id="3" name="Image 1" descr="gen-dedup-0c85e52a8e8889c680696ddf71fd10ee.png"/>
          <p:cNvPicPr>
            <a:picLocks noChangeAspect="1"/>
          </p:cNvPicPr>
          <p:nvPr/>
        </p:nvPicPr>
        <p:blipFill>
          <a:blip r:embed="rId4"/>
          <a:srcRect t="-402" b="-402"/>
          <a:stretch/>
        </p:blipFill>
        <p:spPr>
          <a:xfrm>
            <a:off x="10096805" y="5029200"/>
            <a:ext cx="7048195" cy="1920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904695" y="2095805"/>
            <a:ext cx="1543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300" kern="0" spc="-94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defect doesn't disappear. It moves.</a:t>
            </a:r>
            <a:endParaRPr lang="en-US" sz="6300" dirty="0"/>
          </a:p>
        </p:txBody>
      </p:sp>
      <p:sp>
        <p:nvSpPr>
          <p:cNvPr id="5" name="Text 1"/>
          <p:cNvSpPr txBox="1"/>
          <p:nvPr/>
        </p:nvSpPr>
        <p:spPr>
          <a:xfrm>
            <a:off x="1943100" y="3429000"/>
            <a:ext cx="14287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Gaming the metric doesn't remove the cost — it shifts where and when we pay.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1904695" y="4572000"/>
            <a:ext cx="7049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Caught inside the plant —</a:t>
            </a:r>
            <a:endParaRPr lang="en-US" sz="1950" dirty="0"/>
          </a:p>
        </p:txBody>
      </p:sp>
      <p:sp>
        <p:nvSpPr>
          <p:cNvPr id="7" name="Text 3"/>
          <p:cNvSpPr txBox="1"/>
          <p:nvPr/>
        </p:nvSpPr>
        <p:spPr>
          <a:xfrm>
            <a:off x="1904695" y="5257800"/>
            <a:ext cx="7049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3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Cheap to fix.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904695" y="6144768"/>
            <a:ext cx="7049110" cy="271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21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Rework at the line.</a:t>
            </a:r>
            <a:endParaRPr lang="en-US" sz="2100" dirty="0"/>
          </a:p>
          <a:p>
            <a:pPr marL="0" indent="0" algn="l">
              <a:lnSpc>
                <a:spcPts val="3255"/>
              </a:lnSpc>
              <a:buNone/>
            </a:pPr>
            <a:r>
              <a:rPr lang="en-US" sz="21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Extra inspection.</a:t>
            </a:r>
            <a:endParaRPr lang="en-US" sz="2100" dirty="0"/>
          </a:p>
          <a:p>
            <a:pPr marL="0" indent="0" algn="l">
              <a:lnSpc>
                <a:spcPts val="3255"/>
              </a:lnSpc>
              <a:buNone/>
            </a:pPr>
            <a:r>
              <a:rPr lang="en-US" sz="21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Scrap.</a:t>
            </a:r>
            <a:endParaRPr lang="en-US" sz="2100" dirty="0"/>
          </a:p>
          <a:p>
            <a:pPr marL="0" indent="0" algn="l">
              <a:lnSpc>
                <a:spcPts val="3255"/>
              </a:lnSpc>
              <a:buNone/>
            </a:pPr>
            <a:r>
              <a:rPr lang="en-US" sz="21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Never seen by the customer.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9144000" y="6286500"/>
            <a:ext cx="381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72500" y="7010705"/>
            <a:ext cx="1524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if hidden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0096805" y="4572000"/>
            <a:ext cx="7049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C3554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Reaches the customer —</a:t>
            </a:r>
            <a:endParaRPr lang="en-US" sz="1950" dirty="0"/>
          </a:p>
        </p:txBody>
      </p:sp>
      <p:sp>
        <p:nvSpPr>
          <p:cNvPr id="12" name="Text 8"/>
          <p:cNvSpPr txBox="1"/>
          <p:nvPr/>
        </p:nvSpPr>
        <p:spPr>
          <a:xfrm>
            <a:off x="10096805" y="5257800"/>
            <a:ext cx="7049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3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Expensive to fix.</a:t>
            </a:r>
            <a:endParaRPr lang="en-US" sz="3300" dirty="0"/>
          </a:p>
        </p:txBody>
      </p:sp>
      <p:sp>
        <p:nvSpPr>
          <p:cNvPr id="13" name="Text 9"/>
          <p:cNvSpPr txBox="1"/>
          <p:nvPr/>
        </p:nvSpPr>
        <p:spPr>
          <a:xfrm>
            <a:off x="10096805" y="6144768"/>
            <a:ext cx="7049110" cy="271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21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Returns.</a:t>
            </a:r>
            <a:endParaRPr lang="en-US" sz="2100" dirty="0"/>
          </a:p>
          <a:p>
            <a:pPr marL="0" indent="0" algn="l">
              <a:lnSpc>
                <a:spcPts val="3255"/>
              </a:lnSpc>
              <a:buNone/>
            </a:pPr>
            <a:r>
              <a:rPr lang="en-US" sz="21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Warranty claims.</a:t>
            </a:r>
            <a:endParaRPr lang="en-US" sz="2100" dirty="0"/>
          </a:p>
          <a:p>
            <a:pPr marL="0" indent="0" algn="l">
              <a:lnSpc>
                <a:spcPts val="3255"/>
              </a:lnSpc>
              <a:buNone/>
            </a:pPr>
            <a:r>
              <a:rPr lang="en-US" sz="21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Field service and recalls.</a:t>
            </a:r>
            <a:endParaRPr lang="en-US" sz="2100" dirty="0"/>
          </a:p>
          <a:p>
            <a:pPr marL="0" indent="0" algn="l">
              <a:lnSpc>
                <a:spcPts val="3255"/>
              </a:lnSpc>
              <a:buNone/>
            </a:pPr>
            <a:r>
              <a:rPr lang="en-US" sz="21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Loss of trust.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1904695" y="9239098"/>
            <a:ext cx="15430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defect suppressed inside the plant becomes a claim outside it.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6dcbeabd131cdb5fe5fe40489377832.png"/>
          <p:cNvPicPr>
            <a:picLocks noChangeAspect="1"/>
          </p:cNvPicPr>
          <p:nvPr/>
        </p:nvPicPr>
        <p:blipFill>
          <a:blip r:embed="rId3"/>
          <a:srcRect t="-402" b="-402"/>
          <a:stretch/>
        </p:blipFill>
        <p:spPr>
          <a:xfrm>
            <a:off x="1904695" y="5219395"/>
            <a:ext cx="7048195" cy="19202"/>
          </a:xfrm>
          <a:prstGeom prst="rect">
            <a:avLst/>
          </a:prstGeom>
        </p:spPr>
      </p:pic>
      <p:pic>
        <p:nvPicPr>
          <p:cNvPr id="3" name="Image 1" descr="gen-dedup-36dcbeabd131cdb5fe5fe40489377832.png"/>
          <p:cNvPicPr>
            <a:picLocks noChangeAspect="1"/>
          </p:cNvPicPr>
          <p:nvPr/>
        </p:nvPicPr>
        <p:blipFill>
          <a:blip r:embed="rId3"/>
          <a:srcRect t="-402" b="-402"/>
          <a:stretch/>
        </p:blipFill>
        <p:spPr>
          <a:xfrm>
            <a:off x="10096805" y="5219395"/>
            <a:ext cx="7048195" cy="1920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904695" y="2095805"/>
            <a:ext cx="154305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0" kern="0" spc="-9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Two things drift when the numbers </a:t>
            </a:r>
            <a:r>
              <a:rPr lang="en-US" sz="6000" i="1" kern="0" spc="-90" dirty="0">
                <a:solidFill>
                  <a:srgbClr val="C3554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lie</a:t>
            </a:r>
            <a:r>
              <a:rPr lang="en-US" sz="6000" kern="0" spc="-9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1904695" y="4762195"/>
            <a:ext cx="7049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customer experience —</a:t>
            </a:r>
            <a:endParaRPr lang="en-US" sz="1950" dirty="0"/>
          </a:p>
        </p:txBody>
      </p:sp>
      <p:sp>
        <p:nvSpPr>
          <p:cNvPr id="6" name="Text 2"/>
          <p:cNvSpPr txBox="1"/>
          <p:nvPr/>
        </p:nvSpPr>
        <p:spPr>
          <a:xfrm>
            <a:off x="1904695" y="5447995"/>
            <a:ext cx="7049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Internal KPIs go green.</a:t>
            </a:r>
            <a:endParaRPr lang="en-US" sz="2850" dirty="0"/>
          </a:p>
        </p:txBody>
      </p:sp>
      <p:sp>
        <p:nvSpPr>
          <p:cNvPr id="7" name="Text 3"/>
          <p:cNvSpPr txBox="1"/>
          <p:nvPr/>
        </p:nvSpPr>
        <p:spPr>
          <a:xfrm>
            <a:off x="1904695" y="6381598"/>
            <a:ext cx="7049110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Customers still notice — variation between units, reliability slipping, delivery on paper only.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10096805" y="4762195"/>
            <a:ext cx="7049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Management decisions —</a:t>
            </a:r>
            <a:endParaRPr lang="en-US" sz="1950" dirty="0"/>
          </a:p>
        </p:txBody>
      </p:sp>
      <p:sp>
        <p:nvSpPr>
          <p:cNvPr id="9" name="Text 5"/>
          <p:cNvSpPr txBox="1"/>
          <p:nvPr/>
        </p:nvSpPr>
        <p:spPr>
          <a:xfrm>
            <a:off x="10096805" y="5447995"/>
            <a:ext cx="7049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Decisions rest on a false floor.</a:t>
            </a:r>
            <a:endParaRPr lang="en-US" sz="2850" dirty="0"/>
          </a:p>
        </p:txBody>
      </p:sp>
      <p:sp>
        <p:nvSpPr>
          <p:cNvPr id="10" name="Text 6"/>
          <p:cNvSpPr txBox="1"/>
          <p:nvPr/>
        </p:nvSpPr>
        <p:spPr>
          <a:xfrm>
            <a:off x="10096805" y="6381598"/>
            <a:ext cx="7049110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Investment aimed at the wrong root cause; risk missed until it surfaces; board oversight built on numbers that don't hold.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1904695" y="9191549"/>
            <a:ext cx="15430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Bad measurement doesn't just hide bad quality. It produces bad decisions.</a:t>
            </a:r>
            <a:endParaRPr lang="en-US" sz="1950" dirty="0"/>
          </a:p>
        </p:txBody>
      </p:sp>
      <p:sp>
        <p:nvSpPr>
          <p:cNvPr id="12" name="Text 8"/>
          <p:cNvSpPr txBox="1"/>
          <p:nvPr/>
        </p:nvSpPr>
        <p:spPr>
          <a:xfrm>
            <a:off x="1904695" y="9810598"/>
            <a:ext cx="1543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⁴ Fisher &amp; Kordupleski (2021).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9a5ca0b439c813483a3a0e9dbb7a09c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904695" y="9001354"/>
            <a:ext cx="761695" cy="192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04695" y="1479884"/>
            <a:ext cx="15430500" cy="1663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kern="0" spc="-9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Audit the metric — not only the process.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1943100" y="3048610"/>
            <a:ext cx="15430500" cy="62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Sometimes the measurement system itself needs to be audited.</a:t>
            </a:r>
            <a:endParaRPr lang="en-US" sz="1950" dirty="0"/>
          </a:p>
        </p:txBody>
      </p:sp>
      <p:sp>
        <p:nvSpPr>
          <p:cNvPr id="5" name="Text 2"/>
          <p:cNvSpPr txBox="1"/>
          <p:nvPr/>
        </p:nvSpPr>
        <p:spPr>
          <a:xfrm>
            <a:off x="1904695" y="4095598"/>
            <a:ext cx="571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572207" y="4058107"/>
            <a:ext cx="9525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Who controls the number?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12097511" y="4152290"/>
            <a:ext cx="5238599" cy="363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 the person being evaluated influence how it is recorded?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904695" y="5048402"/>
            <a:ext cx="571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2.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2572207" y="5009998"/>
            <a:ext cx="9525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Can definitions move?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12097513" y="5142585"/>
            <a:ext cx="5238598" cy="325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Has "defect", "complaint" or "on-time" quietly been redefined?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904695" y="6001207"/>
            <a:ext cx="571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3.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572207" y="5962802"/>
            <a:ext cx="9525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Can timing move?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12097512" y="6132880"/>
            <a:ext cx="5238599" cy="28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 failures be shifted into another reporting period?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904695" y="6953098"/>
            <a:ext cx="571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4.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2572207" y="6915607"/>
            <a:ext cx="9525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external signal should agree with it?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12097513" y="7009790"/>
            <a:ext cx="5238597" cy="363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Returns, warranty claims, customer complaints.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1904695" y="7905902"/>
            <a:ext cx="571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5.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2572207" y="7867498"/>
            <a:ext cx="9525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behaviour changed?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12097513" y="7962594"/>
            <a:ext cx="5238597" cy="363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happened after the target became important?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1904695" y="9334195"/>
            <a:ext cx="154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trustworthy KPI needs </a:t>
            </a:r>
            <a:r>
              <a:rPr lang="en-US" sz="24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measurement integrity.</a:t>
            </a:r>
            <a:endParaRPr lang="en-US" sz="2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FCA12F9-E810-9569-4E17-99D18C5C3203}"/>
              </a:ext>
            </a:extLst>
          </p:cNvPr>
          <p:cNvCxnSpPr>
            <a:cxnSpLocks/>
          </p:cNvCxnSpPr>
          <p:nvPr/>
        </p:nvCxnSpPr>
        <p:spPr>
          <a:xfrm>
            <a:off x="10359189" y="3676803"/>
            <a:ext cx="84222" cy="49498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04695" y="2095805"/>
            <a:ext cx="154305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300" b="1" kern="0" spc="-94" dirty="0">
                <a:solidFill>
                  <a:srgbClr val="22201D"/>
                </a:solidFill>
                <a:latin typeface="+mj-lt"/>
                <a:ea typeface="Instrument Serif" pitchFamily="34" charset="-122"/>
                <a:cs typeface="Instrument Serif" pitchFamily="34" charset="-120"/>
              </a:rPr>
              <a:t>So, what can managers actually do?</a:t>
            </a:r>
            <a:endParaRPr lang="en-US" sz="6300" b="1" dirty="0">
              <a:latin typeface="+mj-lt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904695" y="4190695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2572207" y="4190695"/>
            <a:ext cx="6667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Don't rely on a single number.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572207" y="4762195"/>
            <a:ext cx="6667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defect rate alongside returns, rework, scrap, complaints, variation.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525305" y="4190695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2.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191902" y="4190695"/>
            <a:ext cx="69540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Check the inside against the outside.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191902" y="4762195"/>
            <a:ext cx="69540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feedback and warranty data are the honest check on internal KPIs.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904695" y="5905195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3.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2572207" y="5905195"/>
            <a:ext cx="6667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 suspicious of sudden improvement.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572207" y="6476695"/>
            <a:ext cx="6667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"Too good to be true" is a signal to investigate, not a win to celebrate.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525305" y="5905195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4.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10191902" y="5905195"/>
            <a:ext cx="69540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Reward improvement, not compliance.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191902" y="6476695"/>
            <a:ext cx="69540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Recognise real root-cause work — not a number that landed on target.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904695" y="7619695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5.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2572207" y="7619695"/>
            <a:ext cx="6667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Make reporting problems safe.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572207" y="8191195"/>
            <a:ext cx="6667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Separate what you use to learn from what you use to punish.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525305" y="7619695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6.</a:t>
            </a:r>
            <a:endParaRPr lang="en-US" sz="2700" dirty="0"/>
          </a:p>
        </p:txBody>
      </p:sp>
      <p:sp>
        <p:nvSpPr>
          <p:cNvPr id="19" name="Text 17"/>
          <p:cNvSpPr txBox="1"/>
          <p:nvPr/>
        </p:nvSpPr>
        <p:spPr>
          <a:xfrm>
            <a:off x="10191902" y="7619695"/>
            <a:ext cx="69540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Look at the system, not just the box.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191902" y="8191195"/>
            <a:ext cx="69540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Evaluate outcomes at the system level, not only at the departmental KPI.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05971a192be9b2c35b3852de570a77c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1904695" y="6096305"/>
            <a:ext cx="4762195" cy="9144"/>
          </a:xfrm>
          <a:prstGeom prst="rect">
            <a:avLst/>
          </a:prstGeom>
        </p:spPr>
      </p:pic>
      <p:pic>
        <p:nvPicPr>
          <p:cNvPr id="3" name="Image 1" descr="gen-dedup-e05971a192be9b2c35b3852de570a77c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7239305" y="6096305"/>
            <a:ext cx="4762195" cy="9144"/>
          </a:xfrm>
          <a:prstGeom prst="rect">
            <a:avLst/>
          </a:prstGeom>
        </p:spPr>
      </p:pic>
      <p:pic>
        <p:nvPicPr>
          <p:cNvPr id="4" name="Image 2" descr="gen-dedup-e05971a192be9b2c35b3852de570a77c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12573000" y="6096305"/>
            <a:ext cx="4762195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904695" y="2095805"/>
            <a:ext cx="1543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kern="0" spc="-9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Read every metric through three lenses.</a:t>
            </a:r>
            <a:endParaRPr lang="en-US" sz="6000" dirty="0"/>
          </a:p>
        </p:txBody>
      </p:sp>
      <p:sp>
        <p:nvSpPr>
          <p:cNvPr id="6" name="Text 1"/>
          <p:cNvSpPr txBox="1"/>
          <p:nvPr/>
        </p:nvSpPr>
        <p:spPr>
          <a:xfrm>
            <a:off x="1904695" y="3905402"/>
            <a:ext cx="15430500" cy="10479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50" kern="0" spc="-6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Measure </a:t>
            </a:r>
            <a:r>
              <a:rPr lang="en-US" sz="6150" kern="0" spc="-6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+</a:t>
            </a:r>
            <a:r>
              <a:rPr lang="en-US" sz="6150" kern="0" spc="-6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Context </a:t>
            </a:r>
            <a:r>
              <a:rPr lang="en-US" sz="6150" kern="0" spc="-6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+</a:t>
            </a:r>
            <a:r>
              <a:rPr lang="en-US" sz="6150" kern="0" spc="-6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Behaviour.</a:t>
            </a:r>
            <a:endParaRPr lang="en-US" sz="6150" dirty="0"/>
          </a:p>
        </p:txBody>
      </p:sp>
      <p:sp>
        <p:nvSpPr>
          <p:cNvPr id="7" name="Text 2"/>
          <p:cNvSpPr txBox="1"/>
          <p:nvPr/>
        </p:nvSpPr>
        <p:spPr>
          <a:xfrm>
            <a:off x="1904695" y="5619902"/>
            <a:ext cx="4763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Measure —</a:t>
            </a:r>
            <a:endParaRPr lang="en-US" sz="1950" dirty="0"/>
          </a:p>
        </p:txBody>
      </p:sp>
      <p:sp>
        <p:nvSpPr>
          <p:cNvPr id="8" name="Text 3"/>
          <p:cNvSpPr txBox="1"/>
          <p:nvPr/>
        </p:nvSpPr>
        <p:spPr>
          <a:xfrm>
            <a:off x="1904695" y="6324905"/>
            <a:ext cx="4763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number itself.</a:t>
            </a:r>
            <a:endParaRPr lang="en-US" sz="2550" dirty="0"/>
          </a:p>
        </p:txBody>
      </p:sp>
      <p:sp>
        <p:nvSpPr>
          <p:cNvPr id="9" name="Text 4"/>
          <p:cNvSpPr txBox="1"/>
          <p:nvPr/>
        </p:nvSpPr>
        <p:spPr>
          <a:xfrm>
            <a:off x="1904695" y="7258507"/>
            <a:ext cx="47631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Chosen carefully. Defined precisely. Read together with its honest companions — returns, rework, scrap, complaints, variation.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239305" y="5619902"/>
            <a:ext cx="4763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Context —</a:t>
            </a:r>
            <a:endParaRPr lang="en-US" sz="1950" dirty="0"/>
          </a:p>
        </p:txBody>
      </p:sp>
      <p:sp>
        <p:nvSpPr>
          <p:cNvPr id="11" name="Text 6"/>
          <p:cNvSpPr txBox="1"/>
          <p:nvPr/>
        </p:nvSpPr>
        <p:spPr>
          <a:xfrm>
            <a:off x="7239305" y="6324905"/>
            <a:ext cx="4763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story around it.</a:t>
            </a:r>
            <a:endParaRPr lang="en-US" sz="2550" dirty="0"/>
          </a:p>
        </p:txBody>
      </p:sp>
      <p:sp>
        <p:nvSpPr>
          <p:cNvPr id="12" name="Text 7"/>
          <p:cNvSpPr txBox="1"/>
          <p:nvPr/>
        </p:nvSpPr>
        <p:spPr>
          <a:xfrm>
            <a:off x="7239305" y="7258507"/>
            <a:ext cx="47631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changed in the process, the mix, or the inspection rule? Does the number still mean what it used to mean?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2573000" y="5619902"/>
            <a:ext cx="4763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Behaviour —</a:t>
            </a:r>
            <a:endParaRPr lang="en-US" sz="1950" dirty="0"/>
          </a:p>
        </p:txBody>
      </p:sp>
      <p:sp>
        <p:nvSpPr>
          <p:cNvPr id="14" name="Text 9"/>
          <p:cNvSpPr txBox="1"/>
          <p:nvPr/>
        </p:nvSpPr>
        <p:spPr>
          <a:xfrm>
            <a:off x="12573000" y="6324905"/>
            <a:ext cx="4763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it rewards.</a:t>
            </a:r>
            <a:endParaRPr lang="en-US" sz="2550" dirty="0"/>
          </a:p>
        </p:txBody>
      </p:sp>
      <p:sp>
        <p:nvSpPr>
          <p:cNvPr id="15" name="Text 10"/>
          <p:cNvSpPr txBox="1"/>
          <p:nvPr/>
        </p:nvSpPr>
        <p:spPr>
          <a:xfrm>
            <a:off x="12573000" y="7258507"/>
            <a:ext cx="47631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Who gains and who is judged when it moves? What shortcut does that quietly reward?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9a5ca0b439c813483a3a0e9dbb7a09c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904695" y="6191402"/>
            <a:ext cx="761695" cy="192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04695" y="1467853"/>
            <a:ext cx="15430500" cy="4247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48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good quality system does not merely produce </a:t>
            </a:r>
            <a:r>
              <a:rPr lang="en-US" sz="48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good numbers.</a:t>
            </a:r>
            <a:endParaRPr lang="en-US" sz="48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48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It produces good outcomes</a:t>
            </a:r>
            <a:endParaRPr lang="en-US" sz="48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48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that the numbers </a:t>
            </a:r>
            <a:r>
              <a:rPr lang="en-US" sz="4800" i="1" dirty="0">
                <a:solidFill>
                  <a:srgbClr val="0F6B6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truthfully</a:t>
            </a:r>
            <a:r>
              <a:rPr lang="en-US" sz="480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represent.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1904695" y="6420002"/>
            <a:ext cx="14287500" cy="2108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85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When a quality metric improves,</a:t>
            </a:r>
            <a:endParaRPr lang="en-US" sz="28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2850" i="1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are we improving reality — or only the metric?</a:t>
            </a:r>
            <a:endParaRPr lang="en-US" sz="2850" dirty="0"/>
          </a:p>
        </p:txBody>
      </p:sp>
      <p:sp>
        <p:nvSpPr>
          <p:cNvPr id="5" name="Text 2"/>
          <p:cNvSpPr txBox="1"/>
          <p:nvPr/>
        </p:nvSpPr>
        <p:spPr>
          <a:xfrm>
            <a:off x="1904695" y="8638675"/>
            <a:ext cx="1144829" cy="83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22201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Thank you.</a:t>
            </a:r>
            <a:endParaRPr lang="en-US" sz="1950" dirty="0"/>
          </a:p>
        </p:txBody>
      </p:sp>
      <p:sp>
        <p:nvSpPr>
          <p:cNvPr id="6" name="Text 3"/>
          <p:cNvSpPr txBox="1"/>
          <p:nvPr/>
        </p:nvSpPr>
        <p:spPr>
          <a:xfrm>
            <a:off x="1904695" y="9490558"/>
            <a:ext cx="6481316" cy="555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B56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Sayak Pranab Ghosh · MBA Term 5 · IIT Roorkee · BML-536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5409e6f154c9c74a3ef59dfd6227d14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 flipV="1">
            <a:off x="986589" y="3136757"/>
            <a:ext cx="16242632" cy="47158"/>
          </a:xfrm>
          <a:prstGeom prst="rect">
            <a:avLst/>
          </a:prstGeom>
        </p:spPr>
      </p:pic>
      <p:pic>
        <p:nvPicPr>
          <p:cNvPr id="3" name="Image 1" descr="gen-dedup-afb365aff1f02b3e55c1683f447466a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88168" y="5143500"/>
            <a:ext cx="15430500" cy="9144"/>
          </a:xfrm>
          <a:prstGeom prst="rect">
            <a:avLst/>
          </a:prstGeom>
        </p:spPr>
      </p:pic>
      <p:pic>
        <p:nvPicPr>
          <p:cNvPr id="4" name="Image 2" descr="gen-dedup-afb365aff1f02b3e55c1683f447466a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904695" y="7144207"/>
            <a:ext cx="15430500" cy="9144"/>
          </a:xfrm>
          <a:prstGeom prst="rect">
            <a:avLst/>
          </a:prstGeom>
        </p:spPr>
      </p:pic>
      <p:pic>
        <p:nvPicPr>
          <p:cNvPr id="5" name="Image 3" descr="gen-dedup-afb365aff1f02b3e55c1683f447466a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904695" y="8762695"/>
            <a:ext cx="15430500" cy="9144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303573" y="587084"/>
            <a:ext cx="15085290" cy="1350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700" b="1" kern="0" spc="-85" dirty="0">
                <a:solidFill>
                  <a:srgbClr val="22201D"/>
                </a:solidFill>
                <a:latin typeface="+mj-lt"/>
                <a:ea typeface="Instrument Serif" pitchFamily="34" charset="-122"/>
                <a:cs typeface="Instrument Serif" pitchFamily="34" charset="-120"/>
              </a:rPr>
              <a:t>References</a:t>
            </a:r>
            <a:endParaRPr lang="en-US" sz="5700" b="1" dirty="0">
              <a:latin typeface="+mj-lt"/>
            </a:endParaRPr>
          </a:p>
        </p:txBody>
      </p:sp>
      <p:sp>
        <p:nvSpPr>
          <p:cNvPr id="7" name="Text 1"/>
          <p:cNvSpPr txBox="1"/>
          <p:nvPr/>
        </p:nvSpPr>
        <p:spPr>
          <a:xfrm>
            <a:off x="1303573" y="2345219"/>
            <a:ext cx="14888622" cy="36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i="1" dirty="0">
                <a:solidFill>
                  <a:srgbClr val="5B564E"/>
                </a:solidFill>
                <a:ea typeface="Instrument Serif" pitchFamily="34" charset="-122"/>
                <a:cs typeface="Instrument Serif" pitchFamily="34" charset="-120"/>
              </a:rPr>
              <a:t>Ideas paraphrased throughout. No direct quotes unless independently verified</a:t>
            </a:r>
            <a:r>
              <a:rPr lang="en-US" sz="1650" i="1" dirty="0">
                <a:solidFill>
                  <a:srgbClr val="5B564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</a:t>
            </a:r>
            <a:endParaRPr lang="en-US" sz="1650" dirty="0"/>
          </a:p>
        </p:txBody>
      </p:sp>
      <p:sp>
        <p:nvSpPr>
          <p:cNvPr id="8" name="Text 2"/>
          <p:cNvSpPr txBox="1"/>
          <p:nvPr/>
        </p:nvSpPr>
        <p:spPr>
          <a:xfrm>
            <a:off x="1335506" y="3264797"/>
            <a:ext cx="15999690" cy="2168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ts val="2363"/>
              </a:lnSpc>
              <a:buFont typeface="Arial" panose="020B0604020202020204" pitchFamily="34" charset="0"/>
              <a:buChar char="•"/>
            </a:pPr>
            <a:r>
              <a:rPr lang="en-US" b="1" i="1" dirty="0"/>
              <a:t>Mattson, C. A., </a:t>
            </a:r>
            <a:r>
              <a:rPr lang="en-US" b="1" i="1" dirty="0" err="1"/>
              <a:t>Bushardt</a:t>
            </a:r>
            <a:r>
              <a:rPr lang="en-US" b="1" i="1" dirty="0"/>
              <a:t>, R. L., &amp; Artino, A. R. Jr. (2021).   “When a Measure Becomes a Target, It Ceases to Be a Good Measure.”  Journal of Graduate </a:t>
            </a:r>
          </a:p>
          <a:p>
            <a:pPr>
              <a:lnSpc>
                <a:spcPts val="2363"/>
              </a:lnSpc>
            </a:pPr>
            <a:r>
              <a:rPr lang="en-US" b="1" i="1" dirty="0"/>
              <a:t>Medical Education, 13(1), 2–5.</a:t>
            </a:r>
          </a:p>
        </p:txBody>
      </p:sp>
      <p:sp>
        <p:nvSpPr>
          <p:cNvPr id="9" name="Text 3"/>
          <p:cNvSpPr txBox="1"/>
          <p:nvPr/>
        </p:nvSpPr>
        <p:spPr>
          <a:xfrm>
            <a:off x="1335506" y="5333696"/>
            <a:ext cx="16832178" cy="175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ts val="2363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2201D"/>
                </a:solidFill>
                <a:ea typeface="Manrope" pitchFamily="34" charset="-122"/>
                <a:cs typeface="Manrope" pitchFamily="34" charset="-120"/>
              </a:rPr>
              <a:t>Elton, L. (2004). Goodhart's Law and Performance Indicators in Higher Education. </a:t>
            </a:r>
            <a:r>
              <a:rPr lang="en-US" sz="1600" b="1" i="1" dirty="0">
                <a:solidFill>
                  <a:srgbClr val="22201D"/>
                </a:solidFill>
                <a:ea typeface="Manrope" pitchFamily="34" charset="-122"/>
                <a:cs typeface="Manrope" pitchFamily="34" charset="-120"/>
              </a:rPr>
              <a:t>Evaluation and Research in Education</a:t>
            </a:r>
            <a:r>
              <a:rPr lang="en-US" sz="1600" b="1" dirty="0">
                <a:solidFill>
                  <a:srgbClr val="22201D"/>
                </a:solidFill>
                <a:ea typeface="Manrope" pitchFamily="34" charset="-122"/>
                <a:cs typeface="Manrope" pitchFamily="34" charset="-120"/>
              </a:rPr>
              <a:t>. </a:t>
            </a:r>
            <a:r>
              <a:rPr lang="en-US" sz="1600" b="1" dirty="0">
                <a:solidFill>
                  <a:srgbClr val="5B564E"/>
                </a:solidFill>
                <a:ea typeface="Manrope" pitchFamily="34" charset="-122"/>
                <a:cs typeface="Manrope" pitchFamily="34" charset="-120"/>
              </a:rPr>
              <a:t>tandfonline.com/doi/abs/10.1080/09500790408668312. </a:t>
            </a:r>
          </a:p>
          <a:p>
            <a:pPr algn="l">
              <a:lnSpc>
                <a:spcPts val="2363"/>
              </a:lnSpc>
            </a:pPr>
            <a:r>
              <a:rPr lang="en-US" sz="1600" b="1" i="1" dirty="0">
                <a:solidFill>
                  <a:srgbClr val="5B564E"/>
                </a:solidFill>
                <a:ea typeface="Instrument Serif" pitchFamily="34" charset="-122"/>
                <a:cs typeface="Instrument Serif" pitchFamily="34" charset="-120"/>
              </a:rPr>
              <a:t>General principle of target-driven distortion in performance indicators.</a:t>
            </a:r>
            <a:endParaRPr lang="en-US" sz="1600" b="1" dirty="0"/>
          </a:p>
        </p:txBody>
      </p:sp>
      <p:sp>
        <p:nvSpPr>
          <p:cNvPr id="10" name="Text 4"/>
          <p:cNvSpPr txBox="1"/>
          <p:nvPr/>
        </p:nvSpPr>
        <p:spPr>
          <a:xfrm>
            <a:off x="1303573" y="7173884"/>
            <a:ext cx="15999690" cy="157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ts val="2363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2201D"/>
                </a:solidFill>
                <a:ea typeface="Manrope" pitchFamily="34" charset="-122"/>
                <a:cs typeface="Manrope" pitchFamily="34" charset="-120"/>
              </a:rPr>
              <a:t>Fisher, N. I., &amp; Kordupleski, R. E. (2021). Performance Measurement: Issues, Approaches, and Challenges. </a:t>
            </a:r>
            <a:r>
              <a:rPr lang="en-US" sz="1600" b="1" i="1" dirty="0">
                <a:solidFill>
                  <a:srgbClr val="22201D"/>
                </a:solidFill>
                <a:ea typeface="Manrope" pitchFamily="34" charset="-122"/>
                <a:cs typeface="Manrope" pitchFamily="34" charset="-120"/>
              </a:rPr>
              <a:t>Harvard Data Science Review</a:t>
            </a:r>
            <a:r>
              <a:rPr lang="en-US" sz="1600" b="1" dirty="0">
                <a:solidFill>
                  <a:srgbClr val="22201D"/>
                </a:solidFill>
                <a:ea typeface="Manrope" pitchFamily="34" charset="-122"/>
                <a:cs typeface="Manrope" pitchFamily="34" charset="-120"/>
              </a:rPr>
              <a:t>. </a:t>
            </a:r>
            <a:r>
              <a:rPr lang="en-US" sz="1600" b="1" dirty="0">
                <a:solidFill>
                  <a:srgbClr val="5B564E"/>
                </a:solidFill>
                <a:ea typeface="Manrope" pitchFamily="34" charset="-122"/>
                <a:cs typeface="Manrope" pitchFamily="34" charset="-120"/>
              </a:rPr>
              <a:t>hdsr.mitpress.mit.edu/pub/0svq7n0h.</a:t>
            </a:r>
          </a:p>
          <a:p>
            <a:pPr algn="l">
              <a:lnSpc>
                <a:spcPts val="2363"/>
              </a:lnSpc>
            </a:pPr>
            <a:r>
              <a:rPr lang="en-US" sz="1600" b="1" i="1" dirty="0">
                <a:solidFill>
                  <a:srgbClr val="5B564E"/>
                </a:solidFill>
                <a:ea typeface="Instrument Serif" pitchFamily="34" charset="-122"/>
                <a:cs typeface="Instrument Serif" pitchFamily="34" charset="-120"/>
              </a:rPr>
              <a:t>Basis for weak reporting systems distorting decisions and oversight.</a:t>
            </a:r>
            <a:endParaRPr lang="en-US" sz="1600" b="1" dirty="0"/>
          </a:p>
        </p:txBody>
      </p:sp>
      <p:sp>
        <p:nvSpPr>
          <p:cNvPr id="11" name="Text 5"/>
          <p:cNvSpPr txBox="1"/>
          <p:nvPr/>
        </p:nvSpPr>
        <p:spPr>
          <a:xfrm>
            <a:off x="1335506" y="9009404"/>
            <a:ext cx="15999690" cy="827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ts val="2363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2201D"/>
                </a:solidFill>
                <a:ea typeface="Manrope" pitchFamily="34" charset="-122"/>
                <a:cs typeface="Manrope" pitchFamily="34" charset="-120"/>
              </a:rPr>
              <a:t>The Deming Institute. </a:t>
            </a:r>
            <a:r>
              <a:rPr lang="en-US" sz="1600" b="1" i="1" dirty="0">
                <a:solidFill>
                  <a:srgbClr val="22201D"/>
                </a:solidFill>
                <a:ea typeface="Manrope" pitchFamily="34" charset="-122"/>
                <a:cs typeface="Manrope" pitchFamily="34" charset="-120"/>
              </a:rPr>
              <a:t>System of Profound Knowledge</a:t>
            </a:r>
            <a:r>
              <a:rPr lang="en-US" sz="1600" b="1" dirty="0">
                <a:solidFill>
                  <a:srgbClr val="22201D"/>
                </a:solidFill>
                <a:ea typeface="Manrope" pitchFamily="34" charset="-122"/>
                <a:cs typeface="Manrope" pitchFamily="34" charset="-120"/>
              </a:rPr>
              <a:t>.  </a:t>
            </a:r>
            <a:r>
              <a:rPr lang="en-US" sz="1600" b="1" dirty="0">
                <a:solidFill>
                  <a:srgbClr val="5B564E"/>
                </a:solidFill>
                <a:ea typeface="Manrope" pitchFamily="34" charset="-122"/>
                <a:cs typeface="Manrope" pitchFamily="34" charset="-120"/>
              </a:rPr>
              <a:t>deming.org/explore/sopk</a:t>
            </a:r>
          </a:p>
          <a:p>
            <a:pPr marL="285750" indent="-285750" algn="l">
              <a:lnSpc>
                <a:spcPts val="2363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5B564E"/>
              </a:solidFill>
              <a:ea typeface="Manrope" pitchFamily="34" charset="-122"/>
              <a:cs typeface="Manrope" pitchFamily="34" charset="-120"/>
            </a:endParaRPr>
          </a:p>
          <a:p>
            <a:pPr marL="285750" indent="-285750">
              <a:lnSpc>
                <a:spcPts val="2363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Tools used for ideation/design assistance</a:t>
            </a:r>
            <a:r>
              <a:rPr lang="en-US" sz="1600" b="1" dirty="0"/>
              <a:t>: </a:t>
            </a:r>
            <a:r>
              <a:rPr lang="en-US" sz="1600" b="1" i="1" dirty="0"/>
              <a:t>ChatGPT, Claude, Gemini</a:t>
            </a:r>
          </a:p>
        </p:txBody>
      </p:sp>
      <p:sp>
        <p:nvSpPr>
          <p:cNvPr id="12" name="Text 6"/>
          <p:cNvSpPr txBox="1"/>
          <p:nvPr/>
        </p:nvSpPr>
        <p:spPr>
          <a:xfrm>
            <a:off x="11610474" y="9551125"/>
            <a:ext cx="6677526" cy="726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8A83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Precision Components Ltd. and every figure in the case slides are fictional — illustration only.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1883</Words>
  <Application>Microsoft Office PowerPoint</Application>
  <PresentationFormat>Custom</PresentationFormat>
  <Paragraphs>288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Instrument Serif</vt:lpstr>
      <vt:lpstr>Lucida Bright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SAYAK PRANAB GHOSH</cp:lastModifiedBy>
  <cp:revision>50</cp:revision>
  <dcterms:created xsi:type="dcterms:W3CDTF">2026-09-13T15:16:15Z</dcterms:created>
  <dcterms:modified xsi:type="dcterms:W3CDTF">2026-09-13T18:00:23Z</dcterms:modified>
</cp:coreProperties>
</file>